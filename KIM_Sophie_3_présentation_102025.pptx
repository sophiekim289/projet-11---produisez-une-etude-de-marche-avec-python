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83" r:id="rId3"/>
    <p:sldId id="272" r:id="rId4"/>
    <p:sldId id="257" r:id="rId5"/>
    <p:sldId id="274" r:id="rId6"/>
    <p:sldId id="275" r:id="rId7"/>
    <p:sldId id="277" r:id="rId8"/>
    <p:sldId id="278" r:id="rId9"/>
    <p:sldId id="261" r:id="rId10"/>
    <p:sldId id="266" r:id="rId11"/>
    <p:sldId id="279" r:id="rId12"/>
    <p:sldId id="262" r:id="rId13"/>
    <p:sldId id="281" r:id="rId14"/>
    <p:sldId id="280" r:id="rId15"/>
    <p:sldId id="273" r:id="rId16"/>
    <p:sldId id="264" r:id="rId17"/>
    <p:sldId id="282" r:id="rId18"/>
    <p:sldId id="284" r:id="rId19"/>
    <p:sldId id="260" r:id="rId20"/>
    <p:sldId id="285" r:id="rId21"/>
    <p:sldId id="268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7132"/>
    <a:srgbClr val="4285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5D83758-2D97-4141-AB70-5569FBCDF1D3}" type="doc">
      <dgm:prSet loTypeId="urn:microsoft.com/office/officeart/2005/8/layout/funnel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D5A9375F-731A-4087-A147-3C2717059FAA}">
      <dgm:prSet phldrT="[Texte]" phldr="0"/>
      <dgm:spPr>
        <a:solidFill>
          <a:srgbClr val="E97132"/>
        </a:solidFill>
      </dgm:spPr>
      <dgm:t>
        <a:bodyPr/>
        <a:lstStyle/>
        <a:p>
          <a:r>
            <a:rPr lang="fr-FR" dirty="0" err="1">
              <a:latin typeface="Segoe UI Semilight" panose="020B0402040204020203" pitchFamily="34" charset="0"/>
              <a:cs typeface="Segoe UI Semilight" panose="020B0402040204020203" pitchFamily="34" charset="0"/>
            </a:rPr>
            <a:t>df_pop_filtre</a:t>
          </a:r>
          <a:endParaRPr lang="en-GB" dirty="0">
            <a:latin typeface="Segoe UI Semilight" panose="020B0402040204020203" pitchFamily="34" charset="0"/>
            <a:cs typeface="Segoe UI Semilight" panose="020B0402040204020203" pitchFamily="34" charset="0"/>
          </a:endParaRPr>
        </a:p>
      </dgm:t>
    </dgm:pt>
    <dgm:pt modelId="{57A82691-0BA0-41CC-963B-2C60338B7530}" type="parTrans" cxnId="{7695D07C-421B-4ADD-8199-2A46F28DD824}">
      <dgm:prSet/>
      <dgm:spPr/>
      <dgm:t>
        <a:bodyPr/>
        <a:lstStyle/>
        <a:p>
          <a:endParaRPr lang="en-GB"/>
        </a:p>
      </dgm:t>
    </dgm:pt>
    <dgm:pt modelId="{4D8BFD3B-19B2-4584-B3C9-0331B862CBCB}" type="sibTrans" cxnId="{7695D07C-421B-4ADD-8199-2A46F28DD824}">
      <dgm:prSet/>
      <dgm:spPr/>
      <dgm:t>
        <a:bodyPr/>
        <a:lstStyle/>
        <a:p>
          <a:endParaRPr lang="en-GB"/>
        </a:p>
      </dgm:t>
    </dgm:pt>
    <dgm:pt modelId="{6CE0CC1F-9A29-43B6-953E-AF05DC8CF02A}">
      <dgm:prSet phldrT="[Texte]" phldr="0"/>
      <dgm:spPr>
        <a:solidFill>
          <a:srgbClr val="E97132"/>
        </a:solidFill>
      </dgm:spPr>
      <dgm:t>
        <a:bodyPr/>
        <a:lstStyle/>
        <a:p>
          <a:r>
            <a:rPr lang="fr-FR" dirty="0" err="1">
              <a:latin typeface="Segoe UI Semilight" panose="020B0402040204020203" pitchFamily="34" charset="0"/>
              <a:cs typeface="Segoe UI Semilight" panose="020B0402040204020203" pitchFamily="34" charset="0"/>
            </a:rPr>
            <a:t>df_da_filtre</a:t>
          </a:r>
          <a:endParaRPr lang="en-GB" dirty="0">
            <a:latin typeface="Segoe UI Semilight" panose="020B0402040204020203" pitchFamily="34" charset="0"/>
            <a:cs typeface="Segoe UI Semilight" panose="020B0402040204020203" pitchFamily="34" charset="0"/>
          </a:endParaRPr>
        </a:p>
      </dgm:t>
    </dgm:pt>
    <dgm:pt modelId="{ADBEB388-F432-45F6-BF36-E55DB1E233D2}" type="parTrans" cxnId="{F657164B-281D-4230-9695-4F1A0B330808}">
      <dgm:prSet/>
      <dgm:spPr/>
      <dgm:t>
        <a:bodyPr/>
        <a:lstStyle/>
        <a:p>
          <a:endParaRPr lang="en-GB"/>
        </a:p>
      </dgm:t>
    </dgm:pt>
    <dgm:pt modelId="{8E2712A7-8F0E-4D9B-9276-7C467850031B}" type="sibTrans" cxnId="{F657164B-281D-4230-9695-4F1A0B330808}">
      <dgm:prSet/>
      <dgm:spPr/>
      <dgm:t>
        <a:bodyPr/>
        <a:lstStyle/>
        <a:p>
          <a:endParaRPr lang="en-GB"/>
        </a:p>
      </dgm:t>
    </dgm:pt>
    <dgm:pt modelId="{6A9F7976-C16E-48A4-B243-A999C44C4B1A}">
      <dgm:prSet phldrT="[Texte]" phldr="0"/>
      <dgm:spPr>
        <a:solidFill>
          <a:srgbClr val="E97132"/>
        </a:solidFill>
      </dgm:spPr>
      <dgm:t>
        <a:bodyPr/>
        <a:lstStyle/>
        <a:p>
          <a:r>
            <a:rPr lang="fr-FR" dirty="0" err="1">
              <a:latin typeface="Segoe UI Semilight" panose="020B0402040204020203" pitchFamily="34" charset="0"/>
              <a:cs typeface="Segoe UI Semilight" panose="020B0402040204020203" pitchFamily="34" charset="0"/>
            </a:rPr>
            <a:t>df_pib_filtre</a:t>
          </a:r>
          <a:endParaRPr lang="en-GB" dirty="0">
            <a:latin typeface="Segoe UI Semilight" panose="020B0402040204020203" pitchFamily="34" charset="0"/>
            <a:cs typeface="Segoe UI Semilight" panose="020B0402040204020203" pitchFamily="34" charset="0"/>
          </a:endParaRPr>
        </a:p>
      </dgm:t>
    </dgm:pt>
    <dgm:pt modelId="{3CD27DBC-D7EF-4254-ADDC-B0B0EBE377A4}" type="parTrans" cxnId="{41CBA172-FE00-4703-9CDE-E00C7205D433}">
      <dgm:prSet/>
      <dgm:spPr/>
      <dgm:t>
        <a:bodyPr/>
        <a:lstStyle/>
        <a:p>
          <a:endParaRPr lang="en-GB"/>
        </a:p>
      </dgm:t>
    </dgm:pt>
    <dgm:pt modelId="{B1CEE02B-2634-4C06-993D-5292C65845B5}" type="sibTrans" cxnId="{41CBA172-FE00-4703-9CDE-E00C7205D433}">
      <dgm:prSet/>
      <dgm:spPr/>
      <dgm:t>
        <a:bodyPr/>
        <a:lstStyle/>
        <a:p>
          <a:endParaRPr lang="en-GB"/>
        </a:p>
      </dgm:t>
    </dgm:pt>
    <dgm:pt modelId="{E222C1A6-21E6-4949-BDD2-439D30F9ACD0}">
      <dgm:prSet phldrT="[Texte]" phldr="0"/>
      <dgm:spPr/>
      <dgm:t>
        <a:bodyPr/>
        <a:lstStyle/>
        <a:p>
          <a:r>
            <a:rPr lang="fr-FR" dirty="0">
              <a:solidFill>
                <a:schemeClr val="tx1">
                  <a:lumMod val="75000"/>
                  <a:lumOff val="25000"/>
                </a:schemeClr>
              </a:solidFill>
              <a:latin typeface="Segoe UI Semilight" panose="020B0402040204020203" pitchFamily="34" charset="0"/>
              <a:cs typeface="Segoe UI Semilight" panose="020B0402040204020203" pitchFamily="34" charset="0"/>
            </a:rPr>
            <a:t>df_merge_2_filtre</a:t>
          </a:r>
          <a:endParaRPr lang="en-GB" dirty="0">
            <a:solidFill>
              <a:schemeClr val="tx1">
                <a:lumMod val="75000"/>
                <a:lumOff val="25000"/>
              </a:schemeClr>
            </a:solidFill>
            <a:latin typeface="Segoe UI Semilight" panose="020B0402040204020203" pitchFamily="34" charset="0"/>
            <a:cs typeface="Segoe UI Semilight" panose="020B0402040204020203" pitchFamily="34" charset="0"/>
          </a:endParaRPr>
        </a:p>
      </dgm:t>
    </dgm:pt>
    <dgm:pt modelId="{9E664A26-658C-4DA8-A655-C40C821A2EB6}" type="parTrans" cxnId="{13EED196-5198-4F08-A5E9-32A5145CF79C}">
      <dgm:prSet/>
      <dgm:spPr/>
      <dgm:t>
        <a:bodyPr/>
        <a:lstStyle/>
        <a:p>
          <a:endParaRPr lang="en-GB"/>
        </a:p>
      </dgm:t>
    </dgm:pt>
    <dgm:pt modelId="{C266ADF9-CDA0-4322-A78E-C3A6818131C7}" type="sibTrans" cxnId="{13EED196-5198-4F08-A5E9-32A5145CF79C}">
      <dgm:prSet/>
      <dgm:spPr/>
      <dgm:t>
        <a:bodyPr/>
        <a:lstStyle/>
        <a:p>
          <a:endParaRPr lang="en-GB"/>
        </a:p>
      </dgm:t>
    </dgm:pt>
    <dgm:pt modelId="{2CA5A495-7BE8-46AE-875C-E8F423BF3B8C}" type="pres">
      <dgm:prSet presAssocID="{05D83758-2D97-4141-AB70-5569FBCDF1D3}" presName="Name0" presStyleCnt="0">
        <dgm:presLayoutVars>
          <dgm:chMax val="4"/>
          <dgm:resizeHandles val="exact"/>
        </dgm:presLayoutVars>
      </dgm:prSet>
      <dgm:spPr/>
    </dgm:pt>
    <dgm:pt modelId="{41CB69AD-E040-41DD-8528-38CC0CAB9190}" type="pres">
      <dgm:prSet presAssocID="{05D83758-2D97-4141-AB70-5569FBCDF1D3}" presName="ellipse" presStyleLbl="trBgShp" presStyleIdx="0" presStyleCnt="1"/>
      <dgm:spPr/>
    </dgm:pt>
    <dgm:pt modelId="{CC300EA2-0A02-444A-85E6-DFC937C6611F}" type="pres">
      <dgm:prSet presAssocID="{05D83758-2D97-4141-AB70-5569FBCDF1D3}" presName="arrow1" presStyleLbl="fgShp" presStyleIdx="0" presStyleCnt="1"/>
      <dgm:spPr/>
    </dgm:pt>
    <dgm:pt modelId="{E5BE17E5-5B64-47B8-A7A6-13FC383ECFCE}" type="pres">
      <dgm:prSet presAssocID="{05D83758-2D97-4141-AB70-5569FBCDF1D3}" presName="rectangle" presStyleLbl="revTx" presStyleIdx="0" presStyleCnt="1">
        <dgm:presLayoutVars>
          <dgm:bulletEnabled val="1"/>
        </dgm:presLayoutVars>
      </dgm:prSet>
      <dgm:spPr/>
    </dgm:pt>
    <dgm:pt modelId="{33C895B0-9185-4132-99D1-4762C6059269}" type="pres">
      <dgm:prSet presAssocID="{6CE0CC1F-9A29-43B6-953E-AF05DC8CF02A}" presName="item1" presStyleLbl="node1" presStyleIdx="0" presStyleCnt="3">
        <dgm:presLayoutVars>
          <dgm:bulletEnabled val="1"/>
        </dgm:presLayoutVars>
      </dgm:prSet>
      <dgm:spPr/>
    </dgm:pt>
    <dgm:pt modelId="{6BE2627C-49CA-42A9-BFC9-E7DAE829E15B}" type="pres">
      <dgm:prSet presAssocID="{6A9F7976-C16E-48A4-B243-A999C44C4B1A}" presName="item2" presStyleLbl="node1" presStyleIdx="1" presStyleCnt="3">
        <dgm:presLayoutVars>
          <dgm:bulletEnabled val="1"/>
        </dgm:presLayoutVars>
      </dgm:prSet>
      <dgm:spPr/>
    </dgm:pt>
    <dgm:pt modelId="{FA966BD0-3305-47CE-9392-12AC86F00A70}" type="pres">
      <dgm:prSet presAssocID="{E222C1A6-21E6-4949-BDD2-439D30F9ACD0}" presName="item3" presStyleLbl="node1" presStyleIdx="2" presStyleCnt="3">
        <dgm:presLayoutVars>
          <dgm:bulletEnabled val="1"/>
        </dgm:presLayoutVars>
      </dgm:prSet>
      <dgm:spPr/>
    </dgm:pt>
    <dgm:pt modelId="{8528BF03-0EEB-4670-ACB7-A0BBD0BAAAA0}" type="pres">
      <dgm:prSet presAssocID="{05D83758-2D97-4141-AB70-5569FBCDF1D3}" presName="funnel" presStyleLbl="trAlignAcc1" presStyleIdx="0" presStyleCnt="1" custLinFactNeighborX="-858" custLinFactNeighborY="-893"/>
      <dgm:spPr>
        <a:ln>
          <a:solidFill>
            <a:srgbClr val="E97132"/>
          </a:solidFill>
        </a:ln>
      </dgm:spPr>
    </dgm:pt>
  </dgm:ptLst>
  <dgm:cxnLst>
    <dgm:cxn modelId="{8F24975E-8A94-4700-8650-B8B9B1C0008D}" type="presOf" srcId="{05D83758-2D97-4141-AB70-5569FBCDF1D3}" destId="{2CA5A495-7BE8-46AE-875C-E8F423BF3B8C}" srcOrd="0" destOrd="0" presId="urn:microsoft.com/office/officeart/2005/8/layout/funnel1"/>
    <dgm:cxn modelId="{F657164B-281D-4230-9695-4F1A0B330808}" srcId="{05D83758-2D97-4141-AB70-5569FBCDF1D3}" destId="{6CE0CC1F-9A29-43B6-953E-AF05DC8CF02A}" srcOrd="1" destOrd="0" parTransId="{ADBEB388-F432-45F6-BF36-E55DB1E233D2}" sibTransId="{8E2712A7-8F0E-4D9B-9276-7C467850031B}"/>
    <dgm:cxn modelId="{37C0886F-5D89-49FD-8FBE-35EBAE54B801}" type="presOf" srcId="{6A9F7976-C16E-48A4-B243-A999C44C4B1A}" destId="{33C895B0-9185-4132-99D1-4762C6059269}" srcOrd="0" destOrd="0" presId="urn:microsoft.com/office/officeart/2005/8/layout/funnel1"/>
    <dgm:cxn modelId="{41CBA172-FE00-4703-9CDE-E00C7205D433}" srcId="{05D83758-2D97-4141-AB70-5569FBCDF1D3}" destId="{6A9F7976-C16E-48A4-B243-A999C44C4B1A}" srcOrd="2" destOrd="0" parTransId="{3CD27DBC-D7EF-4254-ADDC-B0B0EBE377A4}" sibTransId="{B1CEE02B-2634-4C06-993D-5292C65845B5}"/>
    <dgm:cxn modelId="{7695D07C-421B-4ADD-8199-2A46F28DD824}" srcId="{05D83758-2D97-4141-AB70-5569FBCDF1D3}" destId="{D5A9375F-731A-4087-A147-3C2717059FAA}" srcOrd="0" destOrd="0" parTransId="{57A82691-0BA0-41CC-963B-2C60338B7530}" sibTransId="{4D8BFD3B-19B2-4584-B3C9-0331B862CBCB}"/>
    <dgm:cxn modelId="{13EED196-5198-4F08-A5E9-32A5145CF79C}" srcId="{05D83758-2D97-4141-AB70-5569FBCDF1D3}" destId="{E222C1A6-21E6-4949-BDD2-439D30F9ACD0}" srcOrd="3" destOrd="0" parTransId="{9E664A26-658C-4DA8-A655-C40C821A2EB6}" sibTransId="{C266ADF9-CDA0-4322-A78E-C3A6818131C7}"/>
    <dgm:cxn modelId="{71C065BC-FCE4-40A2-8D54-6ADFFEADE78B}" type="presOf" srcId="{6CE0CC1F-9A29-43B6-953E-AF05DC8CF02A}" destId="{6BE2627C-49CA-42A9-BFC9-E7DAE829E15B}" srcOrd="0" destOrd="0" presId="urn:microsoft.com/office/officeart/2005/8/layout/funnel1"/>
    <dgm:cxn modelId="{8DD34CEA-9E7A-4CE3-8BD4-A2BE41ADACDF}" type="presOf" srcId="{D5A9375F-731A-4087-A147-3C2717059FAA}" destId="{FA966BD0-3305-47CE-9392-12AC86F00A70}" srcOrd="0" destOrd="0" presId="urn:microsoft.com/office/officeart/2005/8/layout/funnel1"/>
    <dgm:cxn modelId="{9269CBFB-2923-4DFA-B662-D8ACE1D84CE6}" type="presOf" srcId="{E222C1A6-21E6-4949-BDD2-439D30F9ACD0}" destId="{E5BE17E5-5B64-47B8-A7A6-13FC383ECFCE}" srcOrd="0" destOrd="0" presId="urn:microsoft.com/office/officeart/2005/8/layout/funnel1"/>
    <dgm:cxn modelId="{1DB50B53-14F8-4778-9CC3-78FA4EC474E1}" type="presParOf" srcId="{2CA5A495-7BE8-46AE-875C-E8F423BF3B8C}" destId="{41CB69AD-E040-41DD-8528-38CC0CAB9190}" srcOrd="0" destOrd="0" presId="urn:microsoft.com/office/officeart/2005/8/layout/funnel1"/>
    <dgm:cxn modelId="{E036EEDD-0943-4E1A-A757-F7520A4F3A61}" type="presParOf" srcId="{2CA5A495-7BE8-46AE-875C-E8F423BF3B8C}" destId="{CC300EA2-0A02-444A-85E6-DFC937C6611F}" srcOrd="1" destOrd="0" presId="urn:microsoft.com/office/officeart/2005/8/layout/funnel1"/>
    <dgm:cxn modelId="{33AF1C74-9544-4ABE-B6E1-368634ABC4F7}" type="presParOf" srcId="{2CA5A495-7BE8-46AE-875C-E8F423BF3B8C}" destId="{E5BE17E5-5B64-47B8-A7A6-13FC383ECFCE}" srcOrd="2" destOrd="0" presId="urn:microsoft.com/office/officeart/2005/8/layout/funnel1"/>
    <dgm:cxn modelId="{5F029D88-3E21-47FD-AE3F-CAA4E07E0B52}" type="presParOf" srcId="{2CA5A495-7BE8-46AE-875C-E8F423BF3B8C}" destId="{33C895B0-9185-4132-99D1-4762C6059269}" srcOrd="3" destOrd="0" presId="urn:microsoft.com/office/officeart/2005/8/layout/funnel1"/>
    <dgm:cxn modelId="{44626AF7-A600-4949-B86D-DAF67EAEDA62}" type="presParOf" srcId="{2CA5A495-7BE8-46AE-875C-E8F423BF3B8C}" destId="{6BE2627C-49CA-42A9-BFC9-E7DAE829E15B}" srcOrd="4" destOrd="0" presId="urn:microsoft.com/office/officeart/2005/8/layout/funnel1"/>
    <dgm:cxn modelId="{CAD4EA0F-9441-4F9A-B0C3-E80BB4E9F564}" type="presParOf" srcId="{2CA5A495-7BE8-46AE-875C-E8F423BF3B8C}" destId="{FA966BD0-3305-47CE-9392-12AC86F00A70}" srcOrd="5" destOrd="0" presId="urn:microsoft.com/office/officeart/2005/8/layout/funnel1"/>
    <dgm:cxn modelId="{89D53999-7C2A-4CFC-88E0-0E60F49C3371}" type="presParOf" srcId="{2CA5A495-7BE8-46AE-875C-E8F423BF3B8C}" destId="{8528BF03-0EEB-4670-ACB7-A0BBD0BAAAA0}" srcOrd="6" destOrd="0" presId="urn:microsoft.com/office/officeart/2005/8/layout/funnel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CB69AD-E040-41DD-8528-38CC0CAB9190}">
      <dsp:nvSpPr>
        <dsp:cNvPr id="0" name=""/>
        <dsp:cNvSpPr/>
      </dsp:nvSpPr>
      <dsp:spPr>
        <a:xfrm>
          <a:off x="3498227" y="176773"/>
          <a:ext cx="3508266" cy="1218374"/>
        </a:xfrm>
        <a:prstGeom prst="ellipse">
          <a:avLst/>
        </a:prstGeom>
        <a:solidFill>
          <a:schemeClr val="accent1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300EA2-0A02-444A-85E6-DFC937C6611F}">
      <dsp:nvSpPr>
        <dsp:cNvPr id="0" name=""/>
        <dsp:cNvSpPr/>
      </dsp:nvSpPr>
      <dsp:spPr>
        <a:xfrm>
          <a:off x="4917851" y="3160159"/>
          <a:ext cx="679896" cy="435133"/>
        </a:xfrm>
        <a:prstGeom prst="down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5BE17E5-5B64-47B8-A7A6-13FC383ECFCE}">
      <dsp:nvSpPr>
        <dsp:cNvPr id="0" name=""/>
        <dsp:cNvSpPr/>
      </dsp:nvSpPr>
      <dsp:spPr>
        <a:xfrm>
          <a:off x="3626048" y="3508266"/>
          <a:ext cx="3263503" cy="8158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2024" tIns="192024" rIns="192024" bIns="192024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700" kern="1200" dirty="0">
              <a:solidFill>
                <a:schemeClr val="tx1">
                  <a:lumMod val="75000"/>
                  <a:lumOff val="25000"/>
                </a:schemeClr>
              </a:solidFill>
              <a:latin typeface="Segoe UI Semilight" panose="020B0402040204020203" pitchFamily="34" charset="0"/>
              <a:cs typeface="Segoe UI Semilight" panose="020B0402040204020203" pitchFamily="34" charset="0"/>
            </a:rPr>
            <a:t>df_merge_2_filtre</a:t>
          </a:r>
          <a:endParaRPr lang="en-GB" sz="2700" kern="1200" dirty="0">
            <a:solidFill>
              <a:schemeClr val="tx1">
                <a:lumMod val="75000"/>
                <a:lumOff val="25000"/>
              </a:schemeClr>
            </a:solidFill>
            <a:latin typeface="Segoe UI Semilight" panose="020B0402040204020203" pitchFamily="34" charset="0"/>
            <a:cs typeface="Segoe UI Semilight" panose="020B0402040204020203" pitchFamily="34" charset="0"/>
          </a:endParaRPr>
        </a:p>
      </dsp:txBody>
      <dsp:txXfrm>
        <a:off x="3626048" y="3508266"/>
        <a:ext cx="3263503" cy="815875"/>
      </dsp:txXfrm>
    </dsp:sp>
    <dsp:sp modelId="{33C895B0-9185-4132-99D1-4762C6059269}">
      <dsp:nvSpPr>
        <dsp:cNvPr id="0" name=""/>
        <dsp:cNvSpPr/>
      </dsp:nvSpPr>
      <dsp:spPr>
        <a:xfrm>
          <a:off x="4773713" y="1489245"/>
          <a:ext cx="1223813" cy="1223813"/>
        </a:xfrm>
        <a:prstGeom prst="ellipse">
          <a:avLst/>
        </a:prstGeom>
        <a:solidFill>
          <a:srgbClr val="E9713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 err="1">
              <a:latin typeface="Segoe UI Semilight" panose="020B0402040204020203" pitchFamily="34" charset="0"/>
              <a:cs typeface="Segoe UI Semilight" panose="020B0402040204020203" pitchFamily="34" charset="0"/>
            </a:rPr>
            <a:t>df_pib_filtre</a:t>
          </a:r>
          <a:endParaRPr lang="en-GB" sz="1200" kern="1200" dirty="0">
            <a:latin typeface="Segoe UI Semilight" panose="020B0402040204020203" pitchFamily="34" charset="0"/>
            <a:cs typeface="Segoe UI Semilight" panose="020B0402040204020203" pitchFamily="34" charset="0"/>
          </a:endParaRPr>
        </a:p>
      </dsp:txBody>
      <dsp:txXfrm>
        <a:off x="4952936" y="1668468"/>
        <a:ext cx="865367" cy="865367"/>
      </dsp:txXfrm>
    </dsp:sp>
    <dsp:sp modelId="{6BE2627C-49CA-42A9-BFC9-E7DAE829E15B}">
      <dsp:nvSpPr>
        <dsp:cNvPr id="0" name=""/>
        <dsp:cNvSpPr/>
      </dsp:nvSpPr>
      <dsp:spPr>
        <a:xfrm>
          <a:off x="3898006" y="571113"/>
          <a:ext cx="1223813" cy="1223813"/>
        </a:xfrm>
        <a:prstGeom prst="ellipse">
          <a:avLst/>
        </a:prstGeom>
        <a:solidFill>
          <a:srgbClr val="E9713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 err="1">
              <a:latin typeface="Segoe UI Semilight" panose="020B0402040204020203" pitchFamily="34" charset="0"/>
              <a:cs typeface="Segoe UI Semilight" panose="020B0402040204020203" pitchFamily="34" charset="0"/>
            </a:rPr>
            <a:t>df_da_filtre</a:t>
          </a:r>
          <a:endParaRPr lang="en-GB" sz="1200" kern="1200" dirty="0">
            <a:latin typeface="Segoe UI Semilight" panose="020B0402040204020203" pitchFamily="34" charset="0"/>
            <a:cs typeface="Segoe UI Semilight" panose="020B0402040204020203" pitchFamily="34" charset="0"/>
          </a:endParaRPr>
        </a:p>
      </dsp:txBody>
      <dsp:txXfrm>
        <a:off x="4077229" y="750336"/>
        <a:ext cx="865367" cy="865367"/>
      </dsp:txXfrm>
    </dsp:sp>
    <dsp:sp modelId="{FA966BD0-3305-47CE-9392-12AC86F00A70}">
      <dsp:nvSpPr>
        <dsp:cNvPr id="0" name=""/>
        <dsp:cNvSpPr/>
      </dsp:nvSpPr>
      <dsp:spPr>
        <a:xfrm>
          <a:off x="5149016" y="275222"/>
          <a:ext cx="1223813" cy="1223813"/>
        </a:xfrm>
        <a:prstGeom prst="ellipse">
          <a:avLst/>
        </a:prstGeom>
        <a:solidFill>
          <a:srgbClr val="E9713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 err="1">
              <a:latin typeface="Segoe UI Semilight" panose="020B0402040204020203" pitchFamily="34" charset="0"/>
              <a:cs typeface="Segoe UI Semilight" panose="020B0402040204020203" pitchFamily="34" charset="0"/>
            </a:rPr>
            <a:t>df_pop_filtre</a:t>
          </a:r>
          <a:endParaRPr lang="en-GB" sz="1200" kern="1200" dirty="0">
            <a:latin typeface="Segoe UI Semilight" panose="020B0402040204020203" pitchFamily="34" charset="0"/>
            <a:cs typeface="Segoe UI Semilight" panose="020B0402040204020203" pitchFamily="34" charset="0"/>
          </a:endParaRPr>
        </a:p>
      </dsp:txBody>
      <dsp:txXfrm>
        <a:off x="5328239" y="454445"/>
        <a:ext cx="865367" cy="865367"/>
      </dsp:txXfrm>
    </dsp:sp>
    <dsp:sp modelId="{8528BF03-0EEB-4670-ACB7-A0BBD0BAAAA0}">
      <dsp:nvSpPr>
        <dsp:cNvPr id="0" name=""/>
        <dsp:cNvSpPr/>
      </dsp:nvSpPr>
      <dsp:spPr>
        <a:xfrm>
          <a:off x="3321421" y="0"/>
          <a:ext cx="3807420" cy="3045936"/>
        </a:xfrm>
        <a:prstGeom prst="funnel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E97132"/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funnel1">
  <dgm:title val=""/>
  <dgm:desc val=""/>
  <dgm:catLst>
    <dgm:cat type="relationship" pri="2000"/>
    <dgm:cat type="process" pri="2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4"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1">
      <dgm:if name="Name2" axis="ch" ptType="node" func="cnt" op="equ" val="2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w" for="ch" forName="item1" refType="w" fact="0.35"/>
          <dgm:constr type="h" for="ch" forName="item1" refType="w" fact="0.35"/>
          <dgm:constr type="t" for="ch" forName="item1" refType="h" fact="0.05"/>
          <dgm:constr type="l" for="ch" forName="item1" refType="w" fact="0.125"/>
          <dgm:constr type="primFontSz" for="ch" forName="item1" op="equ" val="65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if>
      <dgm:else name="Name3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primFontSz" for="ch" forName="rectangle" val="65"/>
          <dgm:constr type="w" for="ch" forName="item1" refType="w" fact="0.225"/>
          <dgm:constr type="h" for="ch" forName="item1" refType="w" fact="0.225"/>
          <dgm:constr type="t" for="ch" forName="item1" refType="h" fact="0.336"/>
          <dgm:constr type="l" for="ch" forName="item1" refType="w" fact="0.261"/>
          <dgm:constr type="primFontSz" for="ch" forName="item1" val="65"/>
          <dgm:constr type="w" for="ch" forName="item2" refType="w" fact="0.225"/>
          <dgm:constr type="h" for="ch" forName="item2" refType="w" fact="0.225"/>
          <dgm:constr type="t" for="ch" forName="item2" refType="h" fact="0.125"/>
          <dgm:constr type="l" for="ch" forName="item2" refType="w" fact="0.1"/>
          <dgm:constr type="primFontSz" for="ch" forName="item2" refType="primFontSz" refFor="ch" refForName="item1" op="equ"/>
          <dgm:constr type="w" for="ch" forName="item3" refType="w" fact="0.225"/>
          <dgm:constr type="h" for="ch" forName="item3" refType="w" fact="0.225"/>
          <dgm:constr type="t" for="ch" forName="item3" refType="h" fact="0.057"/>
          <dgm:constr type="l" for="ch" forName="item3" refType="w" fact="0.33"/>
          <dgm:constr type="primFontSz" for="ch" forName="item3" refType="primFontSz" refFor="ch" refForName="item1" op="equ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else>
    </dgm:choose>
    <dgm:ruleLst/>
    <dgm:choose name="Name4">
      <dgm:if name="Name5" axis="ch" ptType="node" func="cnt" op="gte" val="1">
        <dgm:layoutNode name="ellipse" styleLbl="tr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arrow1" styleLbl="fgShp">
          <dgm:alg type="sp"/>
          <dgm:shape xmlns:r="http://schemas.openxmlformats.org/officeDocument/2006/relationships" type="downArrow" r:blip="">
            <dgm:adjLst/>
          </dgm:shape>
          <dgm:presOf/>
          <dgm:constrLst/>
          <dgm:ruleLst/>
        </dgm:layoutNode>
        <dgm:layoutNode name="rectangle" styleLbl="revTx">
          <dgm:varLst>
            <dgm:bulletEnabled val="1"/>
          </dgm:varLst>
          <dgm:alg type="tx">
            <dgm:param type="txAnchorHorzCh" val="ctr"/>
          </dgm:alg>
          <dgm:shape xmlns:r="http://schemas.openxmlformats.org/officeDocument/2006/relationships" type="rect" r:blip="">
            <dgm:adjLst/>
          </dgm:shape>
          <dgm:choose name="Name6">
            <dgm:if name="Name7" axis="ch" ptType="node" func="cnt" op="equ" val="1">
              <dgm:presOf axis="ch desOrSelf" ptType="node node" st="1 1" cnt="1 0"/>
            </dgm:if>
            <dgm:if name="Name8" axis="ch" ptType="node" func="cnt" op="equ" val="2">
              <dgm:presOf axis="ch desOrSelf" ptType="node node" st="2 1" cnt="1 0"/>
            </dgm:if>
            <dgm:if name="Name9" axis="ch" ptType="node" func="cnt" op="equ" val="3">
              <dgm:presOf axis="ch desOrSelf" ptType="node node" st="3 1" cnt="1 0"/>
            </dgm:if>
            <dgm:else name="Name10">
              <dgm:presOf axis="ch desOrSelf" ptType="node node" st="4 1" cnt="1 0"/>
            </dgm:else>
          </dgm:choose>
          <dgm:constrLst/>
          <dgm:ruleLst>
            <dgm:rule type="primFontSz" val="5" fact="NaN" max="NaN"/>
          </dgm:ruleLst>
        </dgm:layoutNode>
        <dgm:forEach name="Name11" axis="ch" ptType="node" st="2" cnt="1">
          <dgm:layoutNode name="item1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2">
              <dgm:if name="Name13" axis="root ch" ptType="all node" func="cnt" op="equ" val="1">
                <dgm:presOf/>
              </dgm:if>
              <dgm:if name="Name14" axis="root ch" ptType="all node" func="cnt" op="equ" val="2">
                <dgm:presOf axis="root ch desOrSelf" ptType="all node node" st="1 1 1" cnt="0 1 0"/>
              </dgm:if>
              <dgm:if name="Name15" axis="root ch" ptType="all node" func="cnt" op="equ" val="3">
                <dgm:presOf axis="root ch desOrSelf" ptType="all node node" st="1 2 1" cnt="0 1 0"/>
              </dgm:if>
              <dgm:else name="Name16">
                <dgm:presOf axis="root ch desOrSelf" ptType="all node node" st="1 3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17" axis="ch" ptType="node" st="3" cnt="1">
          <dgm:layoutNode name="item2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8">
              <dgm:if name="Name19" axis="root ch" ptType="all node" func="cnt" op="equ" val="1">
                <dgm:presOf/>
              </dgm:if>
              <dgm:if name="Name20" axis="root ch" ptType="all node" func="cnt" op="equ" val="2">
                <dgm:presOf/>
              </dgm:if>
              <dgm:if name="Name21" axis="root ch" ptType="all node" func="cnt" op="equ" val="3">
                <dgm:presOf axis="root ch desOrSelf" ptType="all node node" st="1 1 1" cnt="0 1 0"/>
              </dgm:if>
              <dgm:else name="Name22">
                <dgm:presOf axis="root ch desOrSelf" ptType="all node node" st="1 2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23" axis="ch" ptType="node" st="4" cnt="1">
          <dgm:layoutNode name="item3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4">
              <dgm:if name="Name25" axis="root ch" ptType="all node" func="cnt" op="equ" val="1">
                <dgm:presOf/>
              </dgm:if>
              <dgm:if name="Name26" axis="root ch" ptType="all node" func="cnt" op="equ" val="2">
                <dgm:presOf/>
              </dgm:if>
              <dgm:if name="Name27" axis="root ch" ptType="all node" func="cnt" op="equ" val="3">
                <dgm:presOf/>
              </dgm:if>
              <dgm:else name="Name28">
                <dgm:presOf axis="root ch desOrSelf" ptType="all node node" st="1 1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layoutNode name="funnel" styleLbl="trAlignAcc1">
          <dgm:alg type="sp"/>
          <dgm:shape xmlns:r="http://schemas.openxmlformats.org/officeDocument/2006/relationships" type="funnel" r:blip="">
            <dgm:adjLst/>
          </dgm:shape>
          <dgm:presOf/>
          <dgm:constrLst/>
          <dgm:ruleLst/>
        </dgm:layoutNode>
      </dgm:if>
      <dgm:else name="Name29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A1A068-4C68-4EE7-A947-BC57F2ACD5D1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6231CE-60AE-4F20-9F88-98864BF21108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80268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Matrice de corrélation de Spearman</a:t>
            </a:r>
          </a:p>
          <a:p>
            <a:r>
              <a:rPr lang="fr-FR" dirty="0"/>
              <a:t>De 14 à 10 variables retenues</a:t>
            </a:r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6231CE-60AE-4F20-9F88-98864BF21108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61332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Nombre de composantes principales à représenter </a:t>
            </a:r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6231CE-60AE-4F20-9F88-98864BF21108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49644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3F7E16-7AA5-331F-BDBB-10CD0B67CA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69BCEA3-48A2-E392-DA72-1A1C3489D0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5A79033-5EB5-A47A-D834-52B529C2B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98CA9-00A0-4798-8740-58AD71D10E2F}" type="datetime1">
              <a:rPr lang="en-GB" smtClean="0"/>
              <a:t>19/11/2025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00B894F-0A5C-AB77-5E3F-0AF724677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1C7D045-AF0B-6D16-1CA2-AE2D82135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2375A-1760-4B74-8CB6-413D4008556D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42024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796E8AE-4722-2528-2E9F-320CA4AB0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5F41BA7-449F-8866-99D6-314BEED623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F9EC0F8-4BCD-0417-BB37-04A432583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059E0-DA44-4135-AB00-3A24F7E16CE1}" type="datetime1">
              <a:rPr lang="en-GB" smtClean="0"/>
              <a:t>19/11/2025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6D7091A-9ED7-8C42-CF39-6A63AEB7E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4FDC53F-2BCC-B2DF-5654-439BC5BDD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2375A-1760-4B74-8CB6-413D4008556D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66373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61AA9EA-8C46-F59A-B729-096138536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B556CE9-DB8E-5077-7335-C1F120D33C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2D56B73-7DAA-AF08-5208-70A2C9F2D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B43A0-E8EF-4C77-9F2D-D071692F1CAD}" type="datetime1">
              <a:rPr lang="en-GB" smtClean="0"/>
              <a:t>19/11/2025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A7F6700-0854-EEA4-3E08-19513AC92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E56707E-0FCB-658A-4894-B0C83CAB9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2375A-1760-4B74-8CB6-413D4008556D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24227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26F63E6-D5C9-3DA5-C1A8-D84087434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C0DBCFE-3FCF-B0BE-D994-0D056BA267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24E67A5-D6F9-2C44-B09A-8060B08DD7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EB6A112-C9C2-3070-E44F-08B8A249D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12754-2C16-4238-8BD2-AF0E44D4CE29}" type="datetime1">
              <a:rPr lang="en-GB" smtClean="0"/>
              <a:t>19/11/2025</a:t>
            </a:fld>
            <a:endParaRPr lang="en-GB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57244C7-D278-F589-979F-E151CD7EA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E8AA1BA-B481-57D1-C928-EF532D346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2375A-1760-4B74-8CB6-413D4008556D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8456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8DE3365-1C3A-D914-225A-84C6E880A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FF756A3-70CD-E479-D3A8-E2E9879716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EA4DBE8-F482-C05D-F0CF-D4555E8B79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E30F99C-72F7-0A1B-2554-910C6D4BEC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5212565B-1985-12F8-D47D-612D385FFD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41E1851D-7087-3CDB-9615-ED688F52F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6355F-01BC-41B1-B08F-283778A2BDE4}" type="datetime1">
              <a:rPr lang="en-GB" smtClean="0"/>
              <a:t>19/11/2025</a:t>
            </a:fld>
            <a:endParaRPr lang="en-GB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22B45C11-2C03-2720-5769-7A9112259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1952B6B-FB2B-F0D0-02AB-2AA4DCB21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2375A-1760-4B74-8CB6-413D4008556D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5967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638CCC6-D9BD-A459-3622-044B227D0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2AAFF6A-1A50-F132-8C5E-9D5FF2686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65995-DC3D-407C-BA2C-B02AD093BCCE}" type="datetime1">
              <a:rPr lang="en-GB" smtClean="0"/>
              <a:t>19/11/2025</a:t>
            </a:fld>
            <a:endParaRPr lang="en-GB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703E098-2EB9-BC58-2C0F-CB01B8781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8289363-4433-08E1-B43F-9A4020D2F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2375A-1760-4B74-8CB6-413D4008556D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93314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27E70A8-B379-136A-A15D-F7FF495A6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D1AEE-8E14-45CF-99A6-8DD4A22042D0}" type="datetime1">
              <a:rPr lang="en-GB" smtClean="0"/>
              <a:t>19/11/2025</a:t>
            </a:fld>
            <a:endParaRPr lang="en-GB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C5CB72C-9853-838C-53C4-B282D0D3F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042435D-3C77-C486-138B-16ADFBBC5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2375A-1760-4B74-8CB6-413D4008556D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2181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20481C0-A8C9-0C55-2325-BA3046145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C94112A-866E-CFD5-411F-0E86B772A3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17F9A6A-F824-726E-86A8-A88C58A3F0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7E3D54F-1173-6160-F3A4-F5E12FC7B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0070F-1244-4840-8EF5-E8D65C4448B4}" type="datetime1">
              <a:rPr lang="en-GB" smtClean="0"/>
              <a:t>19/11/2025</a:t>
            </a:fld>
            <a:endParaRPr lang="en-GB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CA92091-CCCD-4528-5C44-040EB718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DA26792-4403-B44B-6618-0335E0D45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2375A-1760-4B74-8CB6-413D4008556D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2054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B45A0DC-09A5-5A70-3071-A03B5B509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1B81349E-3327-A3DA-01CA-8048BA9D11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B5A51F3-E9D3-7ACC-BF71-957ACD2A18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D0002DF-A3BB-AD39-7B4B-C0BED003D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B9D21-12FB-4A1B-9D44-AFE1BD7E96E5}" type="datetime1">
              <a:rPr lang="en-GB" smtClean="0"/>
              <a:t>19/11/2025</a:t>
            </a:fld>
            <a:endParaRPr lang="en-GB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8609119-85EA-24C3-EBBB-D3BA557E1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CE046FD-0D47-D9F2-1A8F-198A6E0AE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2375A-1760-4B74-8CB6-413D4008556D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5179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8F36E7-D2FD-5268-1F5C-9B7186E03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905287D-F3F9-44C9-2F8C-CAF8126F35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B0188AE-FD08-0B68-C77F-B2E86210C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93D0D-E3F7-41C2-B8FC-8F8554C6B8E6}" type="datetime1">
              <a:rPr lang="en-GB" smtClean="0"/>
              <a:t>19/11/2025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47F8276-5713-81A5-E139-3770542A1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DFB1ADA-FC68-B801-B09E-B0959AF0E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2375A-1760-4B74-8CB6-413D4008556D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2066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8E42C96C-1AE2-5376-BB63-710933B954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849CD41-C168-2716-C727-BE352BAEB9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9CE09F1-4BB3-81F8-CC01-BC96495FE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0643D-AD9D-4783-BD2E-6477D82A7FA0}" type="datetime1">
              <a:rPr lang="en-GB" smtClean="0"/>
              <a:t>19/11/2025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CA301A1-3E7A-4F61-8721-5A76193D4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AC8BB9D-A317-1ECB-AD2D-9F96B3902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2375A-1760-4B74-8CB6-413D4008556D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8296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1244215D-34B4-20FC-EDB5-B8CA46376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2D7E9A5-E00F-3C73-1A1B-E5E1AC3D21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361E58E-D795-7737-F630-7C31B1E898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EB839A-62D5-4F21-944E-F1BB854B0137}" type="datetime1">
              <a:rPr lang="en-GB" smtClean="0"/>
              <a:t>19/11/2025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17E9720-39AB-0E45-67B9-445C4D3CD1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A88B6CD-F34F-D055-C532-C453B952FB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A2375A-1760-4B74-8CB6-413D4008556D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0369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fr/users/openclipart-vectors-30363/?utm_source=link-attribution&amp;utm_medium=referral&amp;utm_campaign=image&amp;utm_content=162328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ixabay.com/fr/?utm_source=link-attribution&amp;utm_medium=referral&amp;utm_campaign=image&amp;utm_content=162328" TargetMode="Externa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9400B50-4BF1-43F1-8D4F-D8DEA15DB2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0338" y="640080"/>
            <a:ext cx="3734014" cy="3566160"/>
          </a:xfrm>
        </p:spPr>
        <p:txBody>
          <a:bodyPr anchor="b">
            <a:normAutofit/>
          </a:bodyPr>
          <a:lstStyle/>
          <a:p>
            <a:pPr algn="l"/>
            <a:r>
              <a:rPr lang="fr-FR" sz="46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ÉTUDE DE MARCHÉ</a:t>
            </a:r>
            <a:br>
              <a:rPr lang="fr-FR" sz="46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</a:br>
            <a:br>
              <a:rPr lang="fr-FR" sz="46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</a:br>
            <a:r>
              <a:rPr lang="fr-FR" sz="46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LA POULE QUI CHANTE</a:t>
            </a:r>
            <a:endParaRPr lang="en-GB" sz="4600" dirty="0">
              <a:solidFill>
                <a:schemeClr val="tx1">
                  <a:lumMod val="75000"/>
                  <a:lumOff val="25000"/>
                </a:schemeClr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F706E54-90C1-A03D-C009-82BCC6739F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0339" y="4636008"/>
            <a:ext cx="3734014" cy="1572768"/>
          </a:xfrm>
        </p:spPr>
        <p:txBody>
          <a:bodyPr>
            <a:normAutofit/>
          </a:bodyPr>
          <a:lstStyle/>
          <a:p>
            <a:pPr algn="l"/>
            <a:endParaRPr lang="fr-FR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l"/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Sophie KIM</a:t>
            </a:r>
          </a:p>
          <a:p>
            <a:pPr algn="l"/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Data Analyst</a:t>
            </a:r>
          </a:p>
        </p:txBody>
      </p:sp>
      <p:sp>
        <p:nvSpPr>
          <p:cNvPr id="44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0338" y="4409267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0" descr="Poulets se promenant sur une pelouse">
            <a:extLst>
              <a:ext uri="{FF2B5EF4-FFF2-40B4-BE49-F238E27FC236}">
                <a16:creationId xmlns:a16="http://schemas.microsoft.com/office/drawing/2014/main" id="{52258FA4-C438-D55F-089D-A37E535F772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531" r="19768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DE5112E-2F9D-3510-163F-39C03BB43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2375A-1760-4B74-8CB6-413D4008556D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2749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9FFF004-1FBE-301A-83E7-CFE6A40A4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CONTEXTE</a:t>
            </a:r>
            <a:endParaRPr lang="en-GB" dirty="0">
              <a:solidFill>
                <a:schemeClr val="tx1">
                  <a:lumMod val="75000"/>
                  <a:lumOff val="25000"/>
                </a:schemeClr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3F6F15C-253F-4497-B7AB-476DDF011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2375A-1760-4B74-8CB6-413D4008556D}" type="slidenum">
              <a:rPr lang="en-GB" smtClean="0"/>
              <a:t>2</a:t>
            </a:fld>
            <a:endParaRPr lang="en-GB"/>
          </a:p>
        </p:txBody>
      </p:sp>
      <p:pic>
        <p:nvPicPr>
          <p:cNvPr id="5" name="Espace réservé du contenu 4" descr="Globe contour">
            <a:extLst>
              <a:ext uri="{FF2B5EF4-FFF2-40B4-BE49-F238E27FC236}">
                <a16:creationId xmlns:a16="http://schemas.microsoft.com/office/drawing/2014/main" id="{3EB479BC-97C1-ADD7-3DEF-D77A6006D9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86200" y="1588294"/>
            <a:ext cx="4419600" cy="4419600"/>
          </a:xfrm>
        </p:spPr>
      </p:pic>
    </p:spTree>
    <p:extLst>
      <p:ext uri="{BB962C8B-B14F-4D97-AF65-F5344CB8AC3E}">
        <p14:creationId xmlns:p14="http://schemas.microsoft.com/office/powerpoint/2010/main" val="33536193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A34D88-C1DC-50C7-8A91-9C3CA789B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289ED1AA-8684-4D37-B208-8777E1A77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Graphic 33">
            <a:extLst>
              <a:ext uri="{FF2B5EF4-FFF2-40B4-BE49-F238E27FC236}">
                <a16:creationId xmlns:a16="http://schemas.microsoft.com/office/drawing/2014/main" id="{4180E01B-B1F4-437C-807D-1C930718E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10784" y="0"/>
            <a:ext cx="9570431" cy="6858000"/>
          </a:xfrm>
          <a:custGeom>
            <a:avLst/>
            <a:gdLst>
              <a:gd name="connsiteX0" fmla="*/ 7178288 w 7187261"/>
              <a:gd name="connsiteY0" fmla="*/ 2604802 h 5150263"/>
              <a:gd name="connsiteX1" fmla="*/ 7169335 w 7187261"/>
              <a:gd name="connsiteY1" fmla="*/ 2328577 h 5150263"/>
              <a:gd name="connsiteX2" fmla="*/ 7060845 w 7187261"/>
              <a:gd name="connsiteY2" fmla="*/ 1661160 h 5150263"/>
              <a:gd name="connsiteX3" fmla="*/ 6212263 w 7187261"/>
              <a:gd name="connsiteY3" fmla="*/ 243840 h 5150263"/>
              <a:gd name="connsiteX4" fmla="*/ 5953564 w 7187261"/>
              <a:gd name="connsiteY4" fmla="*/ 0 h 5150263"/>
              <a:gd name="connsiteX5" fmla="*/ 1408615 w 7187261"/>
              <a:gd name="connsiteY5" fmla="*/ 0 h 5150263"/>
              <a:gd name="connsiteX6" fmla="*/ 805111 w 7187261"/>
              <a:gd name="connsiteY6" fmla="*/ 676275 h 5150263"/>
              <a:gd name="connsiteX7" fmla="*/ 104928 w 7187261"/>
              <a:gd name="connsiteY7" fmla="*/ 2183035 h 5150263"/>
              <a:gd name="connsiteX8" fmla="*/ 51588 w 7187261"/>
              <a:gd name="connsiteY8" fmla="*/ 2400014 h 5150263"/>
              <a:gd name="connsiteX9" fmla="*/ 41301 w 7187261"/>
              <a:gd name="connsiteY9" fmla="*/ 2424208 h 5150263"/>
              <a:gd name="connsiteX10" fmla="*/ 119692 w 7187261"/>
              <a:gd name="connsiteY10" fmla="*/ 1834801 h 5150263"/>
              <a:gd name="connsiteX11" fmla="*/ 870071 w 7187261"/>
              <a:gd name="connsiteY11" fmla="*/ 462248 h 5150263"/>
              <a:gd name="connsiteX12" fmla="*/ 1389279 w 7187261"/>
              <a:gd name="connsiteY12" fmla="*/ 476 h 5150263"/>
              <a:gd name="connsiteX13" fmla="*/ 1320223 w 7187261"/>
              <a:gd name="connsiteY13" fmla="*/ 476 h 5150263"/>
              <a:gd name="connsiteX14" fmla="*/ 423158 w 7187261"/>
              <a:gd name="connsiteY14" fmla="*/ 989743 h 5150263"/>
              <a:gd name="connsiteX15" fmla="*/ 25585 w 7187261"/>
              <a:gd name="connsiteY15" fmla="*/ 2113693 h 5150263"/>
              <a:gd name="connsiteX16" fmla="*/ 2344 w 7187261"/>
              <a:gd name="connsiteY16" fmla="*/ 2725865 h 5150263"/>
              <a:gd name="connsiteX17" fmla="*/ 447256 w 7187261"/>
              <a:gd name="connsiteY17" fmla="*/ 4210717 h 5150263"/>
              <a:gd name="connsiteX18" fmla="*/ 1138962 w 7187261"/>
              <a:gd name="connsiteY18" fmla="*/ 4988910 h 5150263"/>
              <a:gd name="connsiteX19" fmla="*/ 1348512 w 7187261"/>
              <a:gd name="connsiteY19" fmla="*/ 5146834 h 5150263"/>
              <a:gd name="connsiteX20" fmla="*/ 1422712 w 7187261"/>
              <a:gd name="connsiteY20" fmla="*/ 5146834 h 5150263"/>
              <a:gd name="connsiteX21" fmla="*/ 480594 w 7187261"/>
              <a:gd name="connsiteY21" fmla="*/ 4187952 h 5150263"/>
              <a:gd name="connsiteX22" fmla="*/ 398679 w 7187261"/>
              <a:gd name="connsiteY22" fmla="*/ 4046125 h 5150263"/>
              <a:gd name="connsiteX23" fmla="*/ 411823 w 7187261"/>
              <a:gd name="connsiteY23" fmla="*/ 4053078 h 5150263"/>
              <a:gd name="connsiteX24" fmla="*/ 1439380 w 7187261"/>
              <a:gd name="connsiteY24" fmla="*/ 5147405 h 5150263"/>
              <a:gd name="connsiteX25" fmla="*/ 5710010 w 7187261"/>
              <a:gd name="connsiteY25" fmla="*/ 5150263 h 5150263"/>
              <a:gd name="connsiteX26" fmla="*/ 5999665 w 7187261"/>
              <a:gd name="connsiteY26" fmla="*/ 4910900 h 5150263"/>
              <a:gd name="connsiteX27" fmla="*/ 6954165 w 7187261"/>
              <a:gd name="connsiteY27" fmla="*/ 3545777 h 5150263"/>
              <a:gd name="connsiteX28" fmla="*/ 7137712 w 7187261"/>
              <a:gd name="connsiteY28" fmla="*/ 2799207 h 5150263"/>
              <a:gd name="connsiteX29" fmla="*/ 7142951 w 7187261"/>
              <a:gd name="connsiteY29" fmla="*/ 2754535 h 5150263"/>
              <a:gd name="connsiteX30" fmla="*/ 7149428 w 7187261"/>
              <a:gd name="connsiteY30" fmla="*/ 2774823 h 5150263"/>
              <a:gd name="connsiteX31" fmla="*/ 7066465 w 7187261"/>
              <a:gd name="connsiteY31" fmla="*/ 3465672 h 5150263"/>
              <a:gd name="connsiteX32" fmla="*/ 6452578 w 7187261"/>
              <a:gd name="connsiteY32" fmla="*/ 4552760 h 5150263"/>
              <a:gd name="connsiteX33" fmla="*/ 5752110 w 7187261"/>
              <a:gd name="connsiteY33" fmla="*/ 5150263 h 5150263"/>
              <a:gd name="connsiteX34" fmla="*/ 5827643 w 7187261"/>
              <a:gd name="connsiteY34" fmla="*/ 5150263 h 5150263"/>
              <a:gd name="connsiteX35" fmla="*/ 6642793 w 7187261"/>
              <a:gd name="connsiteY35" fmla="*/ 4389406 h 5150263"/>
              <a:gd name="connsiteX36" fmla="*/ 7102469 w 7187261"/>
              <a:gd name="connsiteY36" fmla="*/ 3490817 h 5150263"/>
              <a:gd name="connsiteX37" fmla="*/ 7187242 w 7187261"/>
              <a:gd name="connsiteY37" fmla="*/ 2990183 h 5150263"/>
              <a:gd name="connsiteX38" fmla="*/ 7178288 w 7187261"/>
              <a:gd name="connsiteY38" fmla="*/ 2604802 h 5150263"/>
              <a:gd name="connsiteX39" fmla="*/ 6342565 w 7187261"/>
              <a:gd name="connsiteY39" fmla="*/ 441389 h 5150263"/>
              <a:gd name="connsiteX40" fmla="*/ 7126567 w 7187261"/>
              <a:gd name="connsiteY40" fmla="*/ 2355056 h 5150263"/>
              <a:gd name="connsiteX41" fmla="*/ 6342565 w 7187261"/>
              <a:gd name="connsiteY41" fmla="*/ 441389 h 5150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7187261" h="5150263">
                <a:moveTo>
                  <a:pt x="7178288" y="2604802"/>
                </a:moveTo>
                <a:cubicBezTo>
                  <a:pt x="7168763" y="2513076"/>
                  <a:pt x="7174478" y="2420684"/>
                  <a:pt x="7169335" y="2328577"/>
                </a:cubicBezTo>
                <a:cubicBezTo>
                  <a:pt x="7156952" y="2102882"/>
                  <a:pt x="7120586" y="1879149"/>
                  <a:pt x="7060845" y="1661160"/>
                </a:cubicBezTo>
                <a:cubicBezTo>
                  <a:pt x="6910588" y="1121007"/>
                  <a:pt x="6617428" y="631374"/>
                  <a:pt x="6212263" y="243840"/>
                </a:cubicBezTo>
                <a:cubicBezTo>
                  <a:pt x="6126538" y="162496"/>
                  <a:pt x="6040813" y="80201"/>
                  <a:pt x="5953564" y="0"/>
                </a:cubicBezTo>
                <a:lnTo>
                  <a:pt x="1408615" y="0"/>
                </a:lnTo>
                <a:cubicBezTo>
                  <a:pt x="1180967" y="200316"/>
                  <a:pt x="978332" y="427387"/>
                  <a:pt x="805111" y="676275"/>
                </a:cubicBezTo>
                <a:cubicBezTo>
                  <a:pt x="481261" y="1136523"/>
                  <a:pt x="252089" y="1640872"/>
                  <a:pt x="104928" y="2183035"/>
                </a:cubicBezTo>
                <a:cubicBezTo>
                  <a:pt x="85878" y="2254853"/>
                  <a:pt x="69495" y="2327720"/>
                  <a:pt x="51588" y="2400014"/>
                </a:cubicBezTo>
                <a:cubicBezTo>
                  <a:pt x="49683" y="2407634"/>
                  <a:pt x="51588" y="2416969"/>
                  <a:pt x="41301" y="2424208"/>
                </a:cubicBezTo>
                <a:cubicBezTo>
                  <a:pt x="45900" y="2225469"/>
                  <a:pt x="72186" y="2027834"/>
                  <a:pt x="119692" y="1834801"/>
                </a:cubicBezTo>
                <a:cubicBezTo>
                  <a:pt x="247993" y="1310926"/>
                  <a:pt x="506121" y="857726"/>
                  <a:pt x="870071" y="462248"/>
                </a:cubicBezTo>
                <a:cubicBezTo>
                  <a:pt x="1027729" y="291823"/>
                  <a:pt x="1201617" y="137169"/>
                  <a:pt x="1389279" y="476"/>
                </a:cubicBezTo>
                <a:lnTo>
                  <a:pt x="1320223" y="476"/>
                </a:lnTo>
                <a:cubicBezTo>
                  <a:pt x="960844" y="274320"/>
                  <a:pt x="656330" y="599123"/>
                  <a:pt x="423158" y="989743"/>
                </a:cubicBezTo>
                <a:cubicBezTo>
                  <a:pt x="215608" y="1337596"/>
                  <a:pt x="80258" y="1711357"/>
                  <a:pt x="25585" y="2113693"/>
                </a:cubicBezTo>
                <a:cubicBezTo>
                  <a:pt x="-2705" y="2316480"/>
                  <a:pt x="-2228" y="2521077"/>
                  <a:pt x="2344" y="2725865"/>
                </a:cubicBezTo>
                <a:cubicBezTo>
                  <a:pt x="14155" y="3261932"/>
                  <a:pt x="170650" y="3754565"/>
                  <a:pt x="447256" y="4210717"/>
                </a:cubicBezTo>
                <a:cubicBezTo>
                  <a:pt x="629851" y="4511612"/>
                  <a:pt x="866356" y="4767167"/>
                  <a:pt x="1138962" y="4988910"/>
                </a:cubicBezTo>
                <a:cubicBezTo>
                  <a:pt x="1207161" y="5044345"/>
                  <a:pt x="1277008" y="5096990"/>
                  <a:pt x="1348512" y="5146834"/>
                </a:cubicBezTo>
                <a:lnTo>
                  <a:pt x="1422712" y="5146834"/>
                </a:lnTo>
                <a:cubicBezTo>
                  <a:pt x="1043426" y="4892802"/>
                  <a:pt x="724720" y="4577334"/>
                  <a:pt x="480594" y="4187952"/>
                </a:cubicBezTo>
                <a:cubicBezTo>
                  <a:pt x="452019" y="4141851"/>
                  <a:pt x="423444" y="4095179"/>
                  <a:pt x="398679" y="4046125"/>
                </a:cubicBezTo>
                <a:cubicBezTo>
                  <a:pt x="407442" y="4043267"/>
                  <a:pt x="409156" y="4048982"/>
                  <a:pt x="411823" y="4053078"/>
                </a:cubicBezTo>
                <a:cubicBezTo>
                  <a:pt x="683572" y="4484656"/>
                  <a:pt x="1033139" y="4842701"/>
                  <a:pt x="1439380" y="5147405"/>
                </a:cubicBezTo>
                <a:lnTo>
                  <a:pt x="5710010" y="5150263"/>
                </a:lnTo>
                <a:cubicBezTo>
                  <a:pt x="5810594" y="5075482"/>
                  <a:pt x="5907272" y="4995587"/>
                  <a:pt x="5999665" y="4910900"/>
                </a:cubicBezTo>
                <a:cubicBezTo>
                  <a:pt x="6418765" y="4526661"/>
                  <a:pt x="6746901" y="4078129"/>
                  <a:pt x="6954165" y="3545777"/>
                </a:cubicBezTo>
                <a:cubicBezTo>
                  <a:pt x="7048234" y="3306175"/>
                  <a:pt x="7109956" y="3055115"/>
                  <a:pt x="7137712" y="2799207"/>
                </a:cubicBezTo>
                <a:cubicBezTo>
                  <a:pt x="7139236" y="2784920"/>
                  <a:pt x="7141046" y="2770632"/>
                  <a:pt x="7142951" y="2754535"/>
                </a:cubicBezTo>
                <a:cubicBezTo>
                  <a:pt x="7151714" y="2760440"/>
                  <a:pt x="7149237" y="2768441"/>
                  <a:pt x="7149428" y="2774823"/>
                </a:cubicBezTo>
                <a:cubicBezTo>
                  <a:pt x="7156743" y="3007967"/>
                  <a:pt x="7128777" y="3240881"/>
                  <a:pt x="7066465" y="3465672"/>
                </a:cubicBezTo>
                <a:cubicBezTo>
                  <a:pt x="6952165" y="3878580"/>
                  <a:pt x="6737948" y="4235863"/>
                  <a:pt x="6452578" y="4552760"/>
                </a:cubicBezTo>
                <a:cubicBezTo>
                  <a:pt x="6244553" y="4783836"/>
                  <a:pt x="6008809" y="4980242"/>
                  <a:pt x="5752110" y="5150263"/>
                </a:cubicBezTo>
                <a:lnTo>
                  <a:pt x="5827643" y="5150263"/>
                </a:lnTo>
                <a:cubicBezTo>
                  <a:pt x="6136539" y="4938904"/>
                  <a:pt x="6412192" y="4689348"/>
                  <a:pt x="6642793" y="4389406"/>
                </a:cubicBezTo>
                <a:cubicBezTo>
                  <a:pt x="6851295" y="4118324"/>
                  <a:pt x="7009125" y="3820859"/>
                  <a:pt x="7102469" y="3490817"/>
                </a:cubicBezTo>
                <a:cubicBezTo>
                  <a:pt x="7148646" y="3327473"/>
                  <a:pt x="7177069" y="3159624"/>
                  <a:pt x="7187242" y="2990183"/>
                </a:cubicBezTo>
                <a:cubicBezTo>
                  <a:pt x="7187623" y="2984087"/>
                  <a:pt x="7182384" y="2642330"/>
                  <a:pt x="7178288" y="2604802"/>
                </a:cubicBezTo>
                <a:close/>
                <a:moveTo>
                  <a:pt x="6342565" y="441389"/>
                </a:moveTo>
                <a:cubicBezTo>
                  <a:pt x="6829797" y="986533"/>
                  <a:pt x="7091135" y="1624422"/>
                  <a:pt x="7126567" y="2355056"/>
                </a:cubicBezTo>
                <a:cubicBezTo>
                  <a:pt x="7001123" y="1661827"/>
                  <a:pt x="6756426" y="1017365"/>
                  <a:pt x="6342565" y="441389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01EF391-DB1C-9224-AA2D-A5E85C88D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8716" y="955309"/>
            <a:ext cx="7074568" cy="289897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600" kern="1200" dirty="0">
                <a:solidFill>
                  <a:srgbClr val="FFFFFF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MÉTHODOLOGIE</a:t>
            </a:r>
          </a:p>
        </p:txBody>
      </p:sp>
      <p:sp>
        <p:nvSpPr>
          <p:cNvPr id="23" name="sketch line">
            <a:extLst>
              <a:ext uri="{FF2B5EF4-FFF2-40B4-BE49-F238E27FC236}">
                <a16:creationId xmlns:a16="http://schemas.microsoft.com/office/drawing/2014/main" id="{41F77738-2AF0-4750-A0C7-F97C2C1759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173498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563791 w 4243589"/>
              <a:gd name="connsiteY1" fmla="*/ 0 h 18288"/>
              <a:gd name="connsiteX2" fmla="*/ 1042710 w 4243589"/>
              <a:gd name="connsiteY2" fmla="*/ 0 h 18288"/>
              <a:gd name="connsiteX3" fmla="*/ 1564066 w 4243589"/>
              <a:gd name="connsiteY3" fmla="*/ 0 h 18288"/>
              <a:gd name="connsiteX4" fmla="*/ 2212729 w 4243589"/>
              <a:gd name="connsiteY4" fmla="*/ 0 h 18288"/>
              <a:gd name="connsiteX5" fmla="*/ 2776520 w 4243589"/>
              <a:gd name="connsiteY5" fmla="*/ 0 h 18288"/>
              <a:gd name="connsiteX6" fmla="*/ 3297875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637362 w 4243589"/>
              <a:gd name="connsiteY9" fmla="*/ 18288 h 18288"/>
              <a:gd name="connsiteX10" fmla="*/ 3116007 w 4243589"/>
              <a:gd name="connsiteY10" fmla="*/ 18288 h 18288"/>
              <a:gd name="connsiteX11" fmla="*/ 2424908 w 4243589"/>
              <a:gd name="connsiteY11" fmla="*/ 18288 h 18288"/>
              <a:gd name="connsiteX12" fmla="*/ 1861117 w 4243589"/>
              <a:gd name="connsiteY12" fmla="*/ 18288 h 18288"/>
              <a:gd name="connsiteX13" fmla="*/ 1382198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53E46CA-4941-A808-CE02-E7EE64C38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2375A-1760-4B74-8CB6-413D4008556D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07797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7409B24-DD2A-FF97-05A7-8C9B83AD2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MÉTHODOLOGIE</a:t>
            </a:r>
            <a:endParaRPr lang="en-GB" dirty="0">
              <a:solidFill>
                <a:schemeClr val="tx1">
                  <a:lumMod val="75000"/>
                  <a:lumOff val="25000"/>
                </a:schemeClr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5F18EB1-E494-3160-BE0F-02BA4B8F44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003" y="2325029"/>
            <a:ext cx="3448029" cy="2315526"/>
          </a:xfrm>
          <a:prstGeom prst="rect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0221E851-5AE4-F5D2-AE91-C6C6691EBC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3571" y="2325029"/>
            <a:ext cx="3657346" cy="2758711"/>
          </a:xfrm>
          <a:prstGeom prst="rect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5065DF95-544B-15E3-70A4-30827BFE0F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1544" y="2325029"/>
            <a:ext cx="3248453" cy="3483925"/>
          </a:xfrm>
          <a:prstGeom prst="rect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</p:pic>
      <p:sp>
        <p:nvSpPr>
          <p:cNvPr id="10" name="Signe Plus 9">
            <a:extLst>
              <a:ext uri="{FF2B5EF4-FFF2-40B4-BE49-F238E27FC236}">
                <a16:creationId xmlns:a16="http://schemas.microsoft.com/office/drawing/2014/main" id="{289680DF-F206-45BA-FDCC-BBCA687FC5E5}"/>
              </a:ext>
            </a:extLst>
          </p:cNvPr>
          <p:cNvSpPr/>
          <p:nvPr/>
        </p:nvSpPr>
        <p:spPr>
          <a:xfrm>
            <a:off x="3756234" y="3265714"/>
            <a:ext cx="513572" cy="587829"/>
          </a:xfrm>
          <a:prstGeom prst="mathPlus">
            <a:avLst/>
          </a:prstGeom>
          <a:solidFill>
            <a:srgbClr val="E97132"/>
          </a:solidFill>
          <a:ln>
            <a:solidFill>
              <a:srgbClr val="E971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Signe Plus 10">
            <a:extLst>
              <a:ext uri="{FF2B5EF4-FFF2-40B4-BE49-F238E27FC236}">
                <a16:creationId xmlns:a16="http://schemas.microsoft.com/office/drawing/2014/main" id="{31B9162D-422D-5395-2651-6BAFB1354902}"/>
              </a:ext>
            </a:extLst>
          </p:cNvPr>
          <p:cNvSpPr/>
          <p:nvPr/>
        </p:nvSpPr>
        <p:spPr>
          <a:xfrm>
            <a:off x="8024461" y="3265714"/>
            <a:ext cx="513572" cy="587829"/>
          </a:xfrm>
          <a:prstGeom prst="mathPlus">
            <a:avLst/>
          </a:prstGeom>
          <a:solidFill>
            <a:srgbClr val="E97132"/>
          </a:solidFill>
          <a:ln>
            <a:solidFill>
              <a:srgbClr val="E971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Espace réservé du numéro de diapositive 12">
            <a:extLst>
              <a:ext uri="{FF2B5EF4-FFF2-40B4-BE49-F238E27FC236}">
                <a16:creationId xmlns:a16="http://schemas.microsoft.com/office/drawing/2014/main" id="{53F940BD-6272-C8DE-275B-7E7ADE35D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2375A-1760-4B74-8CB6-413D4008556D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24884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C8F01B0-E3BF-E387-C06A-8B1C3829D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UN 1</a:t>
            </a:r>
            <a:r>
              <a:rPr lang="fr-FR" baseline="3000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ER</a:t>
            </a:r>
            <a:r>
              <a:rPr lang="fr-FR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EXEMPLE DE GESTION DES VALEURS MANQUANTES</a:t>
            </a:r>
            <a:endParaRPr lang="en-GB" dirty="0">
              <a:solidFill>
                <a:schemeClr val="tx1">
                  <a:lumMod val="75000"/>
                  <a:lumOff val="25000"/>
                </a:schemeClr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A3D21EA5-78FA-448C-65F6-BDC6B93C63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5691" y="1847442"/>
            <a:ext cx="6040617" cy="4812648"/>
          </a:xfrm>
          <a:prstGeom prst="rect">
            <a:avLst/>
          </a:prstGeom>
        </p:spPr>
      </p:pic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E65DD97A-AD8A-CBEA-BBC1-34F812E72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2375A-1760-4B74-8CB6-413D4008556D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77719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967FE73-9417-C787-AE90-348B6DC12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JOINTURES</a:t>
            </a:r>
            <a:endParaRPr lang="en-GB" dirty="0">
              <a:solidFill>
                <a:schemeClr val="tx1">
                  <a:lumMod val="75000"/>
                  <a:lumOff val="25000"/>
                </a:schemeClr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graphicFrame>
        <p:nvGraphicFramePr>
          <p:cNvPr id="4" name="Espace réservé du contenu 3">
            <a:extLst>
              <a:ext uri="{FF2B5EF4-FFF2-40B4-BE49-F238E27FC236}">
                <a16:creationId xmlns:a16="http://schemas.microsoft.com/office/drawing/2014/main" id="{F636CB64-5C29-28E4-D843-CA66A337EA0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77617753"/>
              </p:ext>
            </p:extLst>
          </p:nvPr>
        </p:nvGraphicFramePr>
        <p:xfrm>
          <a:off x="838200" y="1690688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90BCD67-4B73-2001-5A12-243BB8574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2375A-1760-4B74-8CB6-413D4008556D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01162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D57431-78F1-4E2C-F8EB-C885BC426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3977609-1113-8F30-B6D4-9AEAAD4D8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UN 2</a:t>
            </a:r>
            <a:r>
              <a:rPr lang="fr-FR" baseline="300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ND </a:t>
            </a:r>
            <a:r>
              <a:rPr lang="fr-FR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EXEMPLE DE GESTION DES VALEURS MANQUANTES</a:t>
            </a:r>
            <a:endParaRPr lang="en-GB" dirty="0">
              <a:solidFill>
                <a:schemeClr val="tx1">
                  <a:lumMod val="75000"/>
                  <a:lumOff val="25000"/>
                </a:schemeClr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268EA8E9-3B13-B077-6583-3DF6B93DAD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397" y="1690688"/>
            <a:ext cx="10029205" cy="490609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A0C953D-AD9D-82E2-7C35-EF7840A59462}"/>
              </a:ext>
            </a:extLst>
          </p:cNvPr>
          <p:cNvSpPr/>
          <p:nvPr/>
        </p:nvSpPr>
        <p:spPr>
          <a:xfrm>
            <a:off x="8316686" y="2819401"/>
            <a:ext cx="587828" cy="3352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CE545B-0DBE-B388-2291-CBA67596292E}"/>
              </a:ext>
            </a:extLst>
          </p:cNvPr>
          <p:cNvSpPr/>
          <p:nvPr/>
        </p:nvSpPr>
        <p:spPr>
          <a:xfrm>
            <a:off x="7130143" y="6172200"/>
            <a:ext cx="3980459" cy="42458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268C014-C232-523D-AD34-58D4C0750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2375A-1760-4B74-8CB6-413D4008556D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27817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F56537-E65F-258C-77C6-03A93E2A2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135E2B1F-B29C-3617-7623-75D51050CF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Graphic 33">
            <a:extLst>
              <a:ext uri="{FF2B5EF4-FFF2-40B4-BE49-F238E27FC236}">
                <a16:creationId xmlns:a16="http://schemas.microsoft.com/office/drawing/2014/main" id="{00AB969C-F43F-BF1E-2D08-9348ED77B1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10784" y="0"/>
            <a:ext cx="9570431" cy="6858000"/>
          </a:xfrm>
          <a:custGeom>
            <a:avLst/>
            <a:gdLst>
              <a:gd name="connsiteX0" fmla="*/ 7178288 w 7187261"/>
              <a:gd name="connsiteY0" fmla="*/ 2604802 h 5150263"/>
              <a:gd name="connsiteX1" fmla="*/ 7169335 w 7187261"/>
              <a:gd name="connsiteY1" fmla="*/ 2328577 h 5150263"/>
              <a:gd name="connsiteX2" fmla="*/ 7060845 w 7187261"/>
              <a:gd name="connsiteY2" fmla="*/ 1661160 h 5150263"/>
              <a:gd name="connsiteX3" fmla="*/ 6212263 w 7187261"/>
              <a:gd name="connsiteY3" fmla="*/ 243840 h 5150263"/>
              <a:gd name="connsiteX4" fmla="*/ 5953564 w 7187261"/>
              <a:gd name="connsiteY4" fmla="*/ 0 h 5150263"/>
              <a:gd name="connsiteX5" fmla="*/ 1408615 w 7187261"/>
              <a:gd name="connsiteY5" fmla="*/ 0 h 5150263"/>
              <a:gd name="connsiteX6" fmla="*/ 805111 w 7187261"/>
              <a:gd name="connsiteY6" fmla="*/ 676275 h 5150263"/>
              <a:gd name="connsiteX7" fmla="*/ 104928 w 7187261"/>
              <a:gd name="connsiteY7" fmla="*/ 2183035 h 5150263"/>
              <a:gd name="connsiteX8" fmla="*/ 51588 w 7187261"/>
              <a:gd name="connsiteY8" fmla="*/ 2400014 h 5150263"/>
              <a:gd name="connsiteX9" fmla="*/ 41301 w 7187261"/>
              <a:gd name="connsiteY9" fmla="*/ 2424208 h 5150263"/>
              <a:gd name="connsiteX10" fmla="*/ 119692 w 7187261"/>
              <a:gd name="connsiteY10" fmla="*/ 1834801 h 5150263"/>
              <a:gd name="connsiteX11" fmla="*/ 870071 w 7187261"/>
              <a:gd name="connsiteY11" fmla="*/ 462248 h 5150263"/>
              <a:gd name="connsiteX12" fmla="*/ 1389279 w 7187261"/>
              <a:gd name="connsiteY12" fmla="*/ 476 h 5150263"/>
              <a:gd name="connsiteX13" fmla="*/ 1320223 w 7187261"/>
              <a:gd name="connsiteY13" fmla="*/ 476 h 5150263"/>
              <a:gd name="connsiteX14" fmla="*/ 423158 w 7187261"/>
              <a:gd name="connsiteY14" fmla="*/ 989743 h 5150263"/>
              <a:gd name="connsiteX15" fmla="*/ 25585 w 7187261"/>
              <a:gd name="connsiteY15" fmla="*/ 2113693 h 5150263"/>
              <a:gd name="connsiteX16" fmla="*/ 2344 w 7187261"/>
              <a:gd name="connsiteY16" fmla="*/ 2725865 h 5150263"/>
              <a:gd name="connsiteX17" fmla="*/ 447256 w 7187261"/>
              <a:gd name="connsiteY17" fmla="*/ 4210717 h 5150263"/>
              <a:gd name="connsiteX18" fmla="*/ 1138962 w 7187261"/>
              <a:gd name="connsiteY18" fmla="*/ 4988910 h 5150263"/>
              <a:gd name="connsiteX19" fmla="*/ 1348512 w 7187261"/>
              <a:gd name="connsiteY19" fmla="*/ 5146834 h 5150263"/>
              <a:gd name="connsiteX20" fmla="*/ 1422712 w 7187261"/>
              <a:gd name="connsiteY20" fmla="*/ 5146834 h 5150263"/>
              <a:gd name="connsiteX21" fmla="*/ 480594 w 7187261"/>
              <a:gd name="connsiteY21" fmla="*/ 4187952 h 5150263"/>
              <a:gd name="connsiteX22" fmla="*/ 398679 w 7187261"/>
              <a:gd name="connsiteY22" fmla="*/ 4046125 h 5150263"/>
              <a:gd name="connsiteX23" fmla="*/ 411823 w 7187261"/>
              <a:gd name="connsiteY23" fmla="*/ 4053078 h 5150263"/>
              <a:gd name="connsiteX24" fmla="*/ 1439380 w 7187261"/>
              <a:gd name="connsiteY24" fmla="*/ 5147405 h 5150263"/>
              <a:gd name="connsiteX25" fmla="*/ 5710010 w 7187261"/>
              <a:gd name="connsiteY25" fmla="*/ 5150263 h 5150263"/>
              <a:gd name="connsiteX26" fmla="*/ 5999665 w 7187261"/>
              <a:gd name="connsiteY26" fmla="*/ 4910900 h 5150263"/>
              <a:gd name="connsiteX27" fmla="*/ 6954165 w 7187261"/>
              <a:gd name="connsiteY27" fmla="*/ 3545777 h 5150263"/>
              <a:gd name="connsiteX28" fmla="*/ 7137712 w 7187261"/>
              <a:gd name="connsiteY28" fmla="*/ 2799207 h 5150263"/>
              <a:gd name="connsiteX29" fmla="*/ 7142951 w 7187261"/>
              <a:gd name="connsiteY29" fmla="*/ 2754535 h 5150263"/>
              <a:gd name="connsiteX30" fmla="*/ 7149428 w 7187261"/>
              <a:gd name="connsiteY30" fmla="*/ 2774823 h 5150263"/>
              <a:gd name="connsiteX31" fmla="*/ 7066465 w 7187261"/>
              <a:gd name="connsiteY31" fmla="*/ 3465672 h 5150263"/>
              <a:gd name="connsiteX32" fmla="*/ 6452578 w 7187261"/>
              <a:gd name="connsiteY32" fmla="*/ 4552760 h 5150263"/>
              <a:gd name="connsiteX33" fmla="*/ 5752110 w 7187261"/>
              <a:gd name="connsiteY33" fmla="*/ 5150263 h 5150263"/>
              <a:gd name="connsiteX34" fmla="*/ 5827643 w 7187261"/>
              <a:gd name="connsiteY34" fmla="*/ 5150263 h 5150263"/>
              <a:gd name="connsiteX35" fmla="*/ 6642793 w 7187261"/>
              <a:gd name="connsiteY35" fmla="*/ 4389406 h 5150263"/>
              <a:gd name="connsiteX36" fmla="*/ 7102469 w 7187261"/>
              <a:gd name="connsiteY36" fmla="*/ 3490817 h 5150263"/>
              <a:gd name="connsiteX37" fmla="*/ 7187242 w 7187261"/>
              <a:gd name="connsiteY37" fmla="*/ 2990183 h 5150263"/>
              <a:gd name="connsiteX38" fmla="*/ 7178288 w 7187261"/>
              <a:gd name="connsiteY38" fmla="*/ 2604802 h 5150263"/>
              <a:gd name="connsiteX39" fmla="*/ 6342565 w 7187261"/>
              <a:gd name="connsiteY39" fmla="*/ 441389 h 5150263"/>
              <a:gd name="connsiteX40" fmla="*/ 7126567 w 7187261"/>
              <a:gd name="connsiteY40" fmla="*/ 2355056 h 5150263"/>
              <a:gd name="connsiteX41" fmla="*/ 6342565 w 7187261"/>
              <a:gd name="connsiteY41" fmla="*/ 441389 h 5150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7187261" h="5150263">
                <a:moveTo>
                  <a:pt x="7178288" y="2604802"/>
                </a:moveTo>
                <a:cubicBezTo>
                  <a:pt x="7168763" y="2513076"/>
                  <a:pt x="7174478" y="2420684"/>
                  <a:pt x="7169335" y="2328577"/>
                </a:cubicBezTo>
                <a:cubicBezTo>
                  <a:pt x="7156952" y="2102882"/>
                  <a:pt x="7120586" y="1879149"/>
                  <a:pt x="7060845" y="1661160"/>
                </a:cubicBezTo>
                <a:cubicBezTo>
                  <a:pt x="6910588" y="1121007"/>
                  <a:pt x="6617428" y="631374"/>
                  <a:pt x="6212263" y="243840"/>
                </a:cubicBezTo>
                <a:cubicBezTo>
                  <a:pt x="6126538" y="162496"/>
                  <a:pt x="6040813" y="80201"/>
                  <a:pt x="5953564" y="0"/>
                </a:cubicBezTo>
                <a:lnTo>
                  <a:pt x="1408615" y="0"/>
                </a:lnTo>
                <a:cubicBezTo>
                  <a:pt x="1180967" y="200316"/>
                  <a:pt x="978332" y="427387"/>
                  <a:pt x="805111" y="676275"/>
                </a:cubicBezTo>
                <a:cubicBezTo>
                  <a:pt x="481261" y="1136523"/>
                  <a:pt x="252089" y="1640872"/>
                  <a:pt x="104928" y="2183035"/>
                </a:cubicBezTo>
                <a:cubicBezTo>
                  <a:pt x="85878" y="2254853"/>
                  <a:pt x="69495" y="2327720"/>
                  <a:pt x="51588" y="2400014"/>
                </a:cubicBezTo>
                <a:cubicBezTo>
                  <a:pt x="49683" y="2407634"/>
                  <a:pt x="51588" y="2416969"/>
                  <a:pt x="41301" y="2424208"/>
                </a:cubicBezTo>
                <a:cubicBezTo>
                  <a:pt x="45900" y="2225469"/>
                  <a:pt x="72186" y="2027834"/>
                  <a:pt x="119692" y="1834801"/>
                </a:cubicBezTo>
                <a:cubicBezTo>
                  <a:pt x="247993" y="1310926"/>
                  <a:pt x="506121" y="857726"/>
                  <a:pt x="870071" y="462248"/>
                </a:cubicBezTo>
                <a:cubicBezTo>
                  <a:pt x="1027729" y="291823"/>
                  <a:pt x="1201617" y="137169"/>
                  <a:pt x="1389279" y="476"/>
                </a:cubicBezTo>
                <a:lnTo>
                  <a:pt x="1320223" y="476"/>
                </a:lnTo>
                <a:cubicBezTo>
                  <a:pt x="960844" y="274320"/>
                  <a:pt x="656330" y="599123"/>
                  <a:pt x="423158" y="989743"/>
                </a:cubicBezTo>
                <a:cubicBezTo>
                  <a:pt x="215608" y="1337596"/>
                  <a:pt x="80258" y="1711357"/>
                  <a:pt x="25585" y="2113693"/>
                </a:cubicBezTo>
                <a:cubicBezTo>
                  <a:pt x="-2705" y="2316480"/>
                  <a:pt x="-2228" y="2521077"/>
                  <a:pt x="2344" y="2725865"/>
                </a:cubicBezTo>
                <a:cubicBezTo>
                  <a:pt x="14155" y="3261932"/>
                  <a:pt x="170650" y="3754565"/>
                  <a:pt x="447256" y="4210717"/>
                </a:cubicBezTo>
                <a:cubicBezTo>
                  <a:pt x="629851" y="4511612"/>
                  <a:pt x="866356" y="4767167"/>
                  <a:pt x="1138962" y="4988910"/>
                </a:cubicBezTo>
                <a:cubicBezTo>
                  <a:pt x="1207161" y="5044345"/>
                  <a:pt x="1277008" y="5096990"/>
                  <a:pt x="1348512" y="5146834"/>
                </a:cubicBezTo>
                <a:lnTo>
                  <a:pt x="1422712" y="5146834"/>
                </a:lnTo>
                <a:cubicBezTo>
                  <a:pt x="1043426" y="4892802"/>
                  <a:pt x="724720" y="4577334"/>
                  <a:pt x="480594" y="4187952"/>
                </a:cubicBezTo>
                <a:cubicBezTo>
                  <a:pt x="452019" y="4141851"/>
                  <a:pt x="423444" y="4095179"/>
                  <a:pt x="398679" y="4046125"/>
                </a:cubicBezTo>
                <a:cubicBezTo>
                  <a:pt x="407442" y="4043267"/>
                  <a:pt x="409156" y="4048982"/>
                  <a:pt x="411823" y="4053078"/>
                </a:cubicBezTo>
                <a:cubicBezTo>
                  <a:pt x="683572" y="4484656"/>
                  <a:pt x="1033139" y="4842701"/>
                  <a:pt x="1439380" y="5147405"/>
                </a:cubicBezTo>
                <a:lnTo>
                  <a:pt x="5710010" y="5150263"/>
                </a:lnTo>
                <a:cubicBezTo>
                  <a:pt x="5810594" y="5075482"/>
                  <a:pt x="5907272" y="4995587"/>
                  <a:pt x="5999665" y="4910900"/>
                </a:cubicBezTo>
                <a:cubicBezTo>
                  <a:pt x="6418765" y="4526661"/>
                  <a:pt x="6746901" y="4078129"/>
                  <a:pt x="6954165" y="3545777"/>
                </a:cubicBezTo>
                <a:cubicBezTo>
                  <a:pt x="7048234" y="3306175"/>
                  <a:pt x="7109956" y="3055115"/>
                  <a:pt x="7137712" y="2799207"/>
                </a:cubicBezTo>
                <a:cubicBezTo>
                  <a:pt x="7139236" y="2784920"/>
                  <a:pt x="7141046" y="2770632"/>
                  <a:pt x="7142951" y="2754535"/>
                </a:cubicBezTo>
                <a:cubicBezTo>
                  <a:pt x="7151714" y="2760440"/>
                  <a:pt x="7149237" y="2768441"/>
                  <a:pt x="7149428" y="2774823"/>
                </a:cubicBezTo>
                <a:cubicBezTo>
                  <a:pt x="7156743" y="3007967"/>
                  <a:pt x="7128777" y="3240881"/>
                  <a:pt x="7066465" y="3465672"/>
                </a:cubicBezTo>
                <a:cubicBezTo>
                  <a:pt x="6952165" y="3878580"/>
                  <a:pt x="6737948" y="4235863"/>
                  <a:pt x="6452578" y="4552760"/>
                </a:cubicBezTo>
                <a:cubicBezTo>
                  <a:pt x="6244553" y="4783836"/>
                  <a:pt x="6008809" y="4980242"/>
                  <a:pt x="5752110" y="5150263"/>
                </a:cubicBezTo>
                <a:lnTo>
                  <a:pt x="5827643" y="5150263"/>
                </a:lnTo>
                <a:cubicBezTo>
                  <a:pt x="6136539" y="4938904"/>
                  <a:pt x="6412192" y="4689348"/>
                  <a:pt x="6642793" y="4389406"/>
                </a:cubicBezTo>
                <a:cubicBezTo>
                  <a:pt x="6851295" y="4118324"/>
                  <a:pt x="7009125" y="3820859"/>
                  <a:pt x="7102469" y="3490817"/>
                </a:cubicBezTo>
                <a:cubicBezTo>
                  <a:pt x="7148646" y="3327473"/>
                  <a:pt x="7177069" y="3159624"/>
                  <a:pt x="7187242" y="2990183"/>
                </a:cubicBezTo>
                <a:cubicBezTo>
                  <a:pt x="7187623" y="2984087"/>
                  <a:pt x="7182384" y="2642330"/>
                  <a:pt x="7178288" y="2604802"/>
                </a:cubicBezTo>
                <a:close/>
                <a:moveTo>
                  <a:pt x="6342565" y="441389"/>
                </a:moveTo>
                <a:cubicBezTo>
                  <a:pt x="6829797" y="986533"/>
                  <a:pt x="7091135" y="1624422"/>
                  <a:pt x="7126567" y="2355056"/>
                </a:cubicBezTo>
                <a:cubicBezTo>
                  <a:pt x="7001123" y="1661827"/>
                  <a:pt x="6756426" y="1017365"/>
                  <a:pt x="6342565" y="441389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3C0F6CD-1798-1131-DDA7-547602B69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8716" y="955309"/>
            <a:ext cx="7074568" cy="289897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600" dirty="0">
                <a:solidFill>
                  <a:srgbClr val="FFFFFF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D</a:t>
            </a:r>
            <a:r>
              <a:rPr lang="en-US" sz="6600" kern="1200" dirty="0">
                <a:solidFill>
                  <a:srgbClr val="FFFFFF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ÉMARCHE</a:t>
            </a:r>
          </a:p>
        </p:txBody>
      </p:sp>
      <p:sp>
        <p:nvSpPr>
          <p:cNvPr id="23" name="sketch line">
            <a:extLst>
              <a:ext uri="{FF2B5EF4-FFF2-40B4-BE49-F238E27FC236}">
                <a16:creationId xmlns:a16="http://schemas.microsoft.com/office/drawing/2014/main" id="{18BD31AE-1127-63A3-AF3B-ECD9424EEA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173498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563791 w 4243589"/>
              <a:gd name="connsiteY1" fmla="*/ 0 h 18288"/>
              <a:gd name="connsiteX2" fmla="*/ 1042710 w 4243589"/>
              <a:gd name="connsiteY2" fmla="*/ 0 h 18288"/>
              <a:gd name="connsiteX3" fmla="*/ 1564066 w 4243589"/>
              <a:gd name="connsiteY3" fmla="*/ 0 h 18288"/>
              <a:gd name="connsiteX4" fmla="*/ 2212729 w 4243589"/>
              <a:gd name="connsiteY4" fmla="*/ 0 h 18288"/>
              <a:gd name="connsiteX5" fmla="*/ 2776520 w 4243589"/>
              <a:gd name="connsiteY5" fmla="*/ 0 h 18288"/>
              <a:gd name="connsiteX6" fmla="*/ 3297875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637362 w 4243589"/>
              <a:gd name="connsiteY9" fmla="*/ 18288 h 18288"/>
              <a:gd name="connsiteX10" fmla="*/ 3116007 w 4243589"/>
              <a:gd name="connsiteY10" fmla="*/ 18288 h 18288"/>
              <a:gd name="connsiteX11" fmla="*/ 2424908 w 4243589"/>
              <a:gd name="connsiteY11" fmla="*/ 18288 h 18288"/>
              <a:gd name="connsiteX12" fmla="*/ 1861117 w 4243589"/>
              <a:gd name="connsiteY12" fmla="*/ 18288 h 18288"/>
              <a:gd name="connsiteX13" fmla="*/ 1382198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FAE076DE-CE89-695F-B66D-BEB36397B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2375A-1760-4B74-8CB6-413D4008556D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28120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>
            <a:extLst>
              <a:ext uri="{FF2B5EF4-FFF2-40B4-BE49-F238E27FC236}">
                <a16:creationId xmlns:a16="http://schemas.microsoft.com/office/drawing/2014/main" id="{434C1580-7105-EBFC-0E14-1446A43168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0783" y="1141843"/>
            <a:ext cx="6710434" cy="5626857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72B5A340-0F31-8094-33C6-6D49BAB19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DE 14 À 10 VARIABLES RETENUES </a:t>
            </a:r>
            <a:br>
              <a:rPr lang="fr-FR" dirty="0"/>
            </a:br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17419DE-3F4F-1BB1-9679-B52763995E98}"/>
              </a:ext>
            </a:extLst>
          </p:cNvPr>
          <p:cNvSpPr/>
          <p:nvPr/>
        </p:nvSpPr>
        <p:spPr>
          <a:xfrm>
            <a:off x="2590800" y="1208311"/>
            <a:ext cx="2699657" cy="9144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632422F-1A44-F72D-3EA7-318DE9DE1E76}"/>
              </a:ext>
            </a:extLst>
          </p:cNvPr>
          <p:cNvSpPr/>
          <p:nvPr/>
        </p:nvSpPr>
        <p:spPr>
          <a:xfrm>
            <a:off x="5268685" y="4256312"/>
            <a:ext cx="1023257" cy="252548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5C8BBC-33BF-7BB1-4719-E6B8130B5F98}"/>
              </a:ext>
            </a:extLst>
          </p:cNvPr>
          <p:cNvSpPr/>
          <p:nvPr/>
        </p:nvSpPr>
        <p:spPr>
          <a:xfrm>
            <a:off x="4659086" y="3570513"/>
            <a:ext cx="631371" cy="457200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9FBB9A1-264E-9427-E770-FFEDB36A7C3A}"/>
              </a:ext>
            </a:extLst>
          </p:cNvPr>
          <p:cNvSpPr/>
          <p:nvPr/>
        </p:nvSpPr>
        <p:spPr>
          <a:xfrm>
            <a:off x="7957458" y="4234540"/>
            <a:ext cx="522514" cy="598715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55AFFCEE-0E11-BF6C-0009-ABF29A9CE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2375A-1760-4B74-8CB6-413D4008556D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18712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C76DC2-7E76-C2E5-BA70-77E0A7D12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COMBIEN DE COMPOSANTES CHOISIR ?</a:t>
            </a:r>
            <a:endParaRPr lang="en-GB" dirty="0">
              <a:solidFill>
                <a:schemeClr val="tx1">
                  <a:lumMod val="75000"/>
                  <a:lumOff val="25000"/>
                </a:schemeClr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20A8F458-6D2E-CCC9-1D0C-83E8A4266D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3145" y="1425860"/>
            <a:ext cx="9285710" cy="5432140"/>
          </a:xfrm>
          <a:prstGeom prst="rect">
            <a:avLst/>
          </a:prstGeom>
        </p:spPr>
      </p:pic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964D9393-4A19-E996-4791-35C9A791A5AA}"/>
              </a:ext>
            </a:extLst>
          </p:cNvPr>
          <p:cNvCxnSpPr/>
          <p:nvPr/>
        </p:nvCxnSpPr>
        <p:spPr>
          <a:xfrm>
            <a:off x="4561114" y="2264229"/>
            <a:ext cx="0" cy="443048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ZoneTexte 11">
            <a:extLst>
              <a:ext uri="{FF2B5EF4-FFF2-40B4-BE49-F238E27FC236}">
                <a16:creationId xmlns:a16="http://schemas.microsoft.com/office/drawing/2014/main" id="{2B6D9BF9-F4E2-5F8A-7248-19F5C1EC97D9}"/>
              </a:ext>
            </a:extLst>
          </p:cNvPr>
          <p:cNvSpPr txBox="1"/>
          <p:nvPr/>
        </p:nvSpPr>
        <p:spPr>
          <a:xfrm>
            <a:off x="4125689" y="1916277"/>
            <a:ext cx="870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SEUIL</a:t>
            </a:r>
            <a:endParaRPr lang="en-GB" b="1" dirty="0">
              <a:solidFill>
                <a:srgbClr val="FF0000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13" name="Espace réservé du numéro de diapositive 12">
            <a:extLst>
              <a:ext uri="{FF2B5EF4-FFF2-40B4-BE49-F238E27FC236}">
                <a16:creationId xmlns:a16="http://schemas.microsoft.com/office/drawing/2014/main" id="{9CB18FFC-9FD9-B5DB-0CBF-31DC365FD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2375A-1760-4B74-8CB6-413D4008556D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94000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E443DDF-BCDF-0777-9813-8D7F563EA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IDENTIFICATION DES « OUTLIERS »</a:t>
            </a:r>
            <a:endParaRPr lang="en-GB" dirty="0">
              <a:solidFill>
                <a:schemeClr val="tx1">
                  <a:lumMod val="75000"/>
                  <a:lumOff val="25000"/>
                </a:schemeClr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67D0F027-C511-4922-4280-C648428206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7381" y="1779861"/>
            <a:ext cx="5486400" cy="4801742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8EFC56D1-6270-39A6-F47F-98E161BB0E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9981" y="2446587"/>
            <a:ext cx="6111687" cy="3468289"/>
          </a:xfrm>
          <a:prstGeom prst="rect">
            <a:avLst/>
          </a:prstGeom>
        </p:spPr>
      </p:pic>
      <p:sp>
        <p:nvSpPr>
          <p:cNvPr id="12" name="Ellipse 11">
            <a:extLst>
              <a:ext uri="{FF2B5EF4-FFF2-40B4-BE49-F238E27FC236}">
                <a16:creationId xmlns:a16="http://schemas.microsoft.com/office/drawing/2014/main" id="{1D5D8760-2C3B-6CCC-EBFF-9582DBF7BE5C}"/>
              </a:ext>
            </a:extLst>
          </p:cNvPr>
          <p:cNvSpPr/>
          <p:nvPr/>
        </p:nvSpPr>
        <p:spPr>
          <a:xfrm>
            <a:off x="9209314" y="2483910"/>
            <a:ext cx="2209800" cy="177437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47CDD75-98F5-9553-A263-A34B29DFE301}"/>
              </a:ext>
            </a:extLst>
          </p:cNvPr>
          <p:cNvSpPr/>
          <p:nvPr/>
        </p:nvSpPr>
        <p:spPr>
          <a:xfrm>
            <a:off x="2906486" y="2623457"/>
            <a:ext cx="2895600" cy="685800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E9702F3-B34E-0F6D-4F12-ADE303768FA1}"/>
              </a:ext>
            </a:extLst>
          </p:cNvPr>
          <p:cNvSpPr/>
          <p:nvPr/>
        </p:nvSpPr>
        <p:spPr>
          <a:xfrm>
            <a:off x="3809999" y="3755571"/>
            <a:ext cx="1589315" cy="1110343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Espace réservé du numéro de diapositive 14">
            <a:extLst>
              <a:ext uri="{FF2B5EF4-FFF2-40B4-BE49-F238E27FC236}">
                <a16:creationId xmlns:a16="http://schemas.microsoft.com/office/drawing/2014/main" id="{D5F65BBD-5A20-84A3-0A45-2C8B8FF57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2375A-1760-4B74-8CB6-413D4008556D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44328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CF276DF-A9AB-EC1E-8F2F-69F8F9030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4 GROUPES À IDENTIFIER</a:t>
            </a:r>
            <a:endParaRPr lang="en-GB" dirty="0">
              <a:solidFill>
                <a:schemeClr val="tx1">
                  <a:lumMod val="75000"/>
                  <a:lumOff val="25000"/>
                </a:schemeClr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6ABB84DB-507A-33A4-6A5F-504C2DFD9E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4586" y="1894114"/>
            <a:ext cx="11302827" cy="397731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2B8DF1D-11C6-15CE-E678-F43A7DD66077}"/>
              </a:ext>
            </a:extLst>
          </p:cNvPr>
          <p:cNvSpPr/>
          <p:nvPr/>
        </p:nvSpPr>
        <p:spPr>
          <a:xfrm>
            <a:off x="1774371" y="4702629"/>
            <a:ext cx="631372" cy="57694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3CF84045-5917-4594-D90A-CE3940698ABD}"/>
              </a:ext>
            </a:extLst>
          </p:cNvPr>
          <p:cNvSpPr/>
          <p:nvPr/>
        </p:nvSpPr>
        <p:spPr>
          <a:xfrm>
            <a:off x="7424056" y="2209800"/>
            <a:ext cx="489857" cy="4572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75580F5E-68E3-037E-FBA2-34AAC65C9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2375A-1760-4B74-8CB6-413D4008556D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70103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17811A0-DF82-5717-D31B-80CEE4144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UNE AUTRE MÉTHODE</a:t>
            </a:r>
            <a:endParaRPr lang="en-GB" dirty="0">
              <a:solidFill>
                <a:schemeClr val="tx1">
                  <a:lumMod val="75000"/>
                  <a:lumOff val="25000"/>
                </a:schemeClr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71452F13-A691-8423-F585-BA6E30C548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6361" y="1436914"/>
            <a:ext cx="11439277" cy="5421086"/>
          </a:xfrm>
          <a:prstGeom prst="rect">
            <a:avLst/>
          </a:prstGeom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2FBB807-1192-6B4B-F527-D600DF294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2375A-1760-4B74-8CB6-413D4008556D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33001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FCA4AF6-A9A6-1E73-26C8-EB5CA9E03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DES CARACTÉRISTIQUES BIEN DISTINCTES</a:t>
            </a:r>
            <a:endParaRPr lang="en-GB" dirty="0">
              <a:solidFill>
                <a:schemeClr val="tx1">
                  <a:lumMod val="75000"/>
                  <a:lumOff val="25000"/>
                </a:schemeClr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5C5668F9-BE5E-983D-0A61-272A85C3B7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77231" y="1483860"/>
            <a:ext cx="6437538" cy="5167312"/>
          </a:xfrm>
          <a:prstGeom prst="rect">
            <a:avLst/>
          </a:prstGeom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CBCF64F-6C0D-C67E-C2AA-1D56D0210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2375A-1760-4B74-8CB6-413D4008556D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13169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CB2F7F-05AF-C14F-0DC1-554013182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803E349F-B072-CD6F-363E-8956860EEC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Graphic 33">
            <a:extLst>
              <a:ext uri="{FF2B5EF4-FFF2-40B4-BE49-F238E27FC236}">
                <a16:creationId xmlns:a16="http://schemas.microsoft.com/office/drawing/2014/main" id="{8D20C432-56B8-4A8C-9F76-A965AA6413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10784" y="0"/>
            <a:ext cx="9570431" cy="6858000"/>
          </a:xfrm>
          <a:custGeom>
            <a:avLst/>
            <a:gdLst>
              <a:gd name="connsiteX0" fmla="*/ 7178288 w 7187261"/>
              <a:gd name="connsiteY0" fmla="*/ 2604802 h 5150263"/>
              <a:gd name="connsiteX1" fmla="*/ 7169335 w 7187261"/>
              <a:gd name="connsiteY1" fmla="*/ 2328577 h 5150263"/>
              <a:gd name="connsiteX2" fmla="*/ 7060845 w 7187261"/>
              <a:gd name="connsiteY2" fmla="*/ 1661160 h 5150263"/>
              <a:gd name="connsiteX3" fmla="*/ 6212263 w 7187261"/>
              <a:gd name="connsiteY3" fmla="*/ 243840 h 5150263"/>
              <a:gd name="connsiteX4" fmla="*/ 5953564 w 7187261"/>
              <a:gd name="connsiteY4" fmla="*/ 0 h 5150263"/>
              <a:gd name="connsiteX5" fmla="*/ 1408615 w 7187261"/>
              <a:gd name="connsiteY5" fmla="*/ 0 h 5150263"/>
              <a:gd name="connsiteX6" fmla="*/ 805111 w 7187261"/>
              <a:gd name="connsiteY6" fmla="*/ 676275 h 5150263"/>
              <a:gd name="connsiteX7" fmla="*/ 104928 w 7187261"/>
              <a:gd name="connsiteY7" fmla="*/ 2183035 h 5150263"/>
              <a:gd name="connsiteX8" fmla="*/ 51588 w 7187261"/>
              <a:gd name="connsiteY8" fmla="*/ 2400014 h 5150263"/>
              <a:gd name="connsiteX9" fmla="*/ 41301 w 7187261"/>
              <a:gd name="connsiteY9" fmla="*/ 2424208 h 5150263"/>
              <a:gd name="connsiteX10" fmla="*/ 119692 w 7187261"/>
              <a:gd name="connsiteY10" fmla="*/ 1834801 h 5150263"/>
              <a:gd name="connsiteX11" fmla="*/ 870071 w 7187261"/>
              <a:gd name="connsiteY11" fmla="*/ 462248 h 5150263"/>
              <a:gd name="connsiteX12" fmla="*/ 1389279 w 7187261"/>
              <a:gd name="connsiteY12" fmla="*/ 476 h 5150263"/>
              <a:gd name="connsiteX13" fmla="*/ 1320223 w 7187261"/>
              <a:gd name="connsiteY13" fmla="*/ 476 h 5150263"/>
              <a:gd name="connsiteX14" fmla="*/ 423158 w 7187261"/>
              <a:gd name="connsiteY14" fmla="*/ 989743 h 5150263"/>
              <a:gd name="connsiteX15" fmla="*/ 25585 w 7187261"/>
              <a:gd name="connsiteY15" fmla="*/ 2113693 h 5150263"/>
              <a:gd name="connsiteX16" fmla="*/ 2344 w 7187261"/>
              <a:gd name="connsiteY16" fmla="*/ 2725865 h 5150263"/>
              <a:gd name="connsiteX17" fmla="*/ 447256 w 7187261"/>
              <a:gd name="connsiteY17" fmla="*/ 4210717 h 5150263"/>
              <a:gd name="connsiteX18" fmla="*/ 1138962 w 7187261"/>
              <a:gd name="connsiteY18" fmla="*/ 4988910 h 5150263"/>
              <a:gd name="connsiteX19" fmla="*/ 1348512 w 7187261"/>
              <a:gd name="connsiteY19" fmla="*/ 5146834 h 5150263"/>
              <a:gd name="connsiteX20" fmla="*/ 1422712 w 7187261"/>
              <a:gd name="connsiteY20" fmla="*/ 5146834 h 5150263"/>
              <a:gd name="connsiteX21" fmla="*/ 480594 w 7187261"/>
              <a:gd name="connsiteY21" fmla="*/ 4187952 h 5150263"/>
              <a:gd name="connsiteX22" fmla="*/ 398679 w 7187261"/>
              <a:gd name="connsiteY22" fmla="*/ 4046125 h 5150263"/>
              <a:gd name="connsiteX23" fmla="*/ 411823 w 7187261"/>
              <a:gd name="connsiteY23" fmla="*/ 4053078 h 5150263"/>
              <a:gd name="connsiteX24" fmla="*/ 1439380 w 7187261"/>
              <a:gd name="connsiteY24" fmla="*/ 5147405 h 5150263"/>
              <a:gd name="connsiteX25" fmla="*/ 5710010 w 7187261"/>
              <a:gd name="connsiteY25" fmla="*/ 5150263 h 5150263"/>
              <a:gd name="connsiteX26" fmla="*/ 5999665 w 7187261"/>
              <a:gd name="connsiteY26" fmla="*/ 4910900 h 5150263"/>
              <a:gd name="connsiteX27" fmla="*/ 6954165 w 7187261"/>
              <a:gd name="connsiteY27" fmla="*/ 3545777 h 5150263"/>
              <a:gd name="connsiteX28" fmla="*/ 7137712 w 7187261"/>
              <a:gd name="connsiteY28" fmla="*/ 2799207 h 5150263"/>
              <a:gd name="connsiteX29" fmla="*/ 7142951 w 7187261"/>
              <a:gd name="connsiteY29" fmla="*/ 2754535 h 5150263"/>
              <a:gd name="connsiteX30" fmla="*/ 7149428 w 7187261"/>
              <a:gd name="connsiteY30" fmla="*/ 2774823 h 5150263"/>
              <a:gd name="connsiteX31" fmla="*/ 7066465 w 7187261"/>
              <a:gd name="connsiteY31" fmla="*/ 3465672 h 5150263"/>
              <a:gd name="connsiteX32" fmla="*/ 6452578 w 7187261"/>
              <a:gd name="connsiteY32" fmla="*/ 4552760 h 5150263"/>
              <a:gd name="connsiteX33" fmla="*/ 5752110 w 7187261"/>
              <a:gd name="connsiteY33" fmla="*/ 5150263 h 5150263"/>
              <a:gd name="connsiteX34" fmla="*/ 5827643 w 7187261"/>
              <a:gd name="connsiteY34" fmla="*/ 5150263 h 5150263"/>
              <a:gd name="connsiteX35" fmla="*/ 6642793 w 7187261"/>
              <a:gd name="connsiteY35" fmla="*/ 4389406 h 5150263"/>
              <a:gd name="connsiteX36" fmla="*/ 7102469 w 7187261"/>
              <a:gd name="connsiteY36" fmla="*/ 3490817 h 5150263"/>
              <a:gd name="connsiteX37" fmla="*/ 7187242 w 7187261"/>
              <a:gd name="connsiteY37" fmla="*/ 2990183 h 5150263"/>
              <a:gd name="connsiteX38" fmla="*/ 7178288 w 7187261"/>
              <a:gd name="connsiteY38" fmla="*/ 2604802 h 5150263"/>
              <a:gd name="connsiteX39" fmla="*/ 6342565 w 7187261"/>
              <a:gd name="connsiteY39" fmla="*/ 441389 h 5150263"/>
              <a:gd name="connsiteX40" fmla="*/ 7126567 w 7187261"/>
              <a:gd name="connsiteY40" fmla="*/ 2355056 h 5150263"/>
              <a:gd name="connsiteX41" fmla="*/ 6342565 w 7187261"/>
              <a:gd name="connsiteY41" fmla="*/ 441389 h 5150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7187261" h="5150263">
                <a:moveTo>
                  <a:pt x="7178288" y="2604802"/>
                </a:moveTo>
                <a:cubicBezTo>
                  <a:pt x="7168763" y="2513076"/>
                  <a:pt x="7174478" y="2420684"/>
                  <a:pt x="7169335" y="2328577"/>
                </a:cubicBezTo>
                <a:cubicBezTo>
                  <a:pt x="7156952" y="2102882"/>
                  <a:pt x="7120586" y="1879149"/>
                  <a:pt x="7060845" y="1661160"/>
                </a:cubicBezTo>
                <a:cubicBezTo>
                  <a:pt x="6910588" y="1121007"/>
                  <a:pt x="6617428" y="631374"/>
                  <a:pt x="6212263" y="243840"/>
                </a:cubicBezTo>
                <a:cubicBezTo>
                  <a:pt x="6126538" y="162496"/>
                  <a:pt x="6040813" y="80201"/>
                  <a:pt x="5953564" y="0"/>
                </a:cubicBezTo>
                <a:lnTo>
                  <a:pt x="1408615" y="0"/>
                </a:lnTo>
                <a:cubicBezTo>
                  <a:pt x="1180967" y="200316"/>
                  <a:pt x="978332" y="427387"/>
                  <a:pt x="805111" y="676275"/>
                </a:cubicBezTo>
                <a:cubicBezTo>
                  <a:pt x="481261" y="1136523"/>
                  <a:pt x="252089" y="1640872"/>
                  <a:pt x="104928" y="2183035"/>
                </a:cubicBezTo>
                <a:cubicBezTo>
                  <a:pt x="85878" y="2254853"/>
                  <a:pt x="69495" y="2327720"/>
                  <a:pt x="51588" y="2400014"/>
                </a:cubicBezTo>
                <a:cubicBezTo>
                  <a:pt x="49683" y="2407634"/>
                  <a:pt x="51588" y="2416969"/>
                  <a:pt x="41301" y="2424208"/>
                </a:cubicBezTo>
                <a:cubicBezTo>
                  <a:pt x="45900" y="2225469"/>
                  <a:pt x="72186" y="2027834"/>
                  <a:pt x="119692" y="1834801"/>
                </a:cubicBezTo>
                <a:cubicBezTo>
                  <a:pt x="247993" y="1310926"/>
                  <a:pt x="506121" y="857726"/>
                  <a:pt x="870071" y="462248"/>
                </a:cubicBezTo>
                <a:cubicBezTo>
                  <a:pt x="1027729" y="291823"/>
                  <a:pt x="1201617" y="137169"/>
                  <a:pt x="1389279" y="476"/>
                </a:cubicBezTo>
                <a:lnTo>
                  <a:pt x="1320223" y="476"/>
                </a:lnTo>
                <a:cubicBezTo>
                  <a:pt x="960844" y="274320"/>
                  <a:pt x="656330" y="599123"/>
                  <a:pt x="423158" y="989743"/>
                </a:cubicBezTo>
                <a:cubicBezTo>
                  <a:pt x="215608" y="1337596"/>
                  <a:pt x="80258" y="1711357"/>
                  <a:pt x="25585" y="2113693"/>
                </a:cubicBezTo>
                <a:cubicBezTo>
                  <a:pt x="-2705" y="2316480"/>
                  <a:pt x="-2228" y="2521077"/>
                  <a:pt x="2344" y="2725865"/>
                </a:cubicBezTo>
                <a:cubicBezTo>
                  <a:pt x="14155" y="3261932"/>
                  <a:pt x="170650" y="3754565"/>
                  <a:pt x="447256" y="4210717"/>
                </a:cubicBezTo>
                <a:cubicBezTo>
                  <a:pt x="629851" y="4511612"/>
                  <a:pt x="866356" y="4767167"/>
                  <a:pt x="1138962" y="4988910"/>
                </a:cubicBezTo>
                <a:cubicBezTo>
                  <a:pt x="1207161" y="5044345"/>
                  <a:pt x="1277008" y="5096990"/>
                  <a:pt x="1348512" y="5146834"/>
                </a:cubicBezTo>
                <a:lnTo>
                  <a:pt x="1422712" y="5146834"/>
                </a:lnTo>
                <a:cubicBezTo>
                  <a:pt x="1043426" y="4892802"/>
                  <a:pt x="724720" y="4577334"/>
                  <a:pt x="480594" y="4187952"/>
                </a:cubicBezTo>
                <a:cubicBezTo>
                  <a:pt x="452019" y="4141851"/>
                  <a:pt x="423444" y="4095179"/>
                  <a:pt x="398679" y="4046125"/>
                </a:cubicBezTo>
                <a:cubicBezTo>
                  <a:pt x="407442" y="4043267"/>
                  <a:pt x="409156" y="4048982"/>
                  <a:pt x="411823" y="4053078"/>
                </a:cubicBezTo>
                <a:cubicBezTo>
                  <a:pt x="683572" y="4484656"/>
                  <a:pt x="1033139" y="4842701"/>
                  <a:pt x="1439380" y="5147405"/>
                </a:cubicBezTo>
                <a:lnTo>
                  <a:pt x="5710010" y="5150263"/>
                </a:lnTo>
                <a:cubicBezTo>
                  <a:pt x="5810594" y="5075482"/>
                  <a:pt x="5907272" y="4995587"/>
                  <a:pt x="5999665" y="4910900"/>
                </a:cubicBezTo>
                <a:cubicBezTo>
                  <a:pt x="6418765" y="4526661"/>
                  <a:pt x="6746901" y="4078129"/>
                  <a:pt x="6954165" y="3545777"/>
                </a:cubicBezTo>
                <a:cubicBezTo>
                  <a:pt x="7048234" y="3306175"/>
                  <a:pt x="7109956" y="3055115"/>
                  <a:pt x="7137712" y="2799207"/>
                </a:cubicBezTo>
                <a:cubicBezTo>
                  <a:pt x="7139236" y="2784920"/>
                  <a:pt x="7141046" y="2770632"/>
                  <a:pt x="7142951" y="2754535"/>
                </a:cubicBezTo>
                <a:cubicBezTo>
                  <a:pt x="7151714" y="2760440"/>
                  <a:pt x="7149237" y="2768441"/>
                  <a:pt x="7149428" y="2774823"/>
                </a:cubicBezTo>
                <a:cubicBezTo>
                  <a:pt x="7156743" y="3007967"/>
                  <a:pt x="7128777" y="3240881"/>
                  <a:pt x="7066465" y="3465672"/>
                </a:cubicBezTo>
                <a:cubicBezTo>
                  <a:pt x="6952165" y="3878580"/>
                  <a:pt x="6737948" y="4235863"/>
                  <a:pt x="6452578" y="4552760"/>
                </a:cubicBezTo>
                <a:cubicBezTo>
                  <a:pt x="6244553" y="4783836"/>
                  <a:pt x="6008809" y="4980242"/>
                  <a:pt x="5752110" y="5150263"/>
                </a:cubicBezTo>
                <a:lnTo>
                  <a:pt x="5827643" y="5150263"/>
                </a:lnTo>
                <a:cubicBezTo>
                  <a:pt x="6136539" y="4938904"/>
                  <a:pt x="6412192" y="4689348"/>
                  <a:pt x="6642793" y="4389406"/>
                </a:cubicBezTo>
                <a:cubicBezTo>
                  <a:pt x="6851295" y="4118324"/>
                  <a:pt x="7009125" y="3820859"/>
                  <a:pt x="7102469" y="3490817"/>
                </a:cubicBezTo>
                <a:cubicBezTo>
                  <a:pt x="7148646" y="3327473"/>
                  <a:pt x="7177069" y="3159624"/>
                  <a:pt x="7187242" y="2990183"/>
                </a:cubicBezTo>
                <a:cubicBezTo>
                  <a:pt x="7187623" y="2984087"/>
                  <a:pt x="7182384" y="2642330"/>
                  <a:pt x="7178288" y="2604802"/>
                </a:cubicBezTo>
                <a:close/>
                <a:moveTo>
                  <a:pt x="6342565" y="441389"/>
                </a:moveTo>
                <a:cubicBezTo>
                  <a:pt x="6829797" y="986533"/>
                  <a:pt x="7091135" y="1624422"/>
                  <a:pt x="7126567" y="2355056"/>
                </a:cubicBezTo>
                <a:cubicBezTo>
                  <a:pt x="7001123" y="1661827"/>
                  <a:pt x="6756426" y="1017365"/>
                  <a:pt x="6342565" y="441389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4D64453-A3DA-C63A-B8C0-B2534660D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8716" y="955309"/>
            <a:ext cx="7074568" cy="289897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600" dirty="0">
                <a:solidFill>
                  <a:srgbClr val="FFFFFF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R</a:t>
            </a:r>
            <a:r>
              <a:rPr lang="en-US" sz="6600" kern="1200" dirty="0">
                <a:solidFill>
                  <a:srgbClr val="FFFFFF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É</a:t>
            </a:r>
            <a:r>
              <a:rPr lang="en-US" sz="6600" dirty="0">
                <a:solidFill>
                  <a:srgbClr val="FFFFFF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SULTATS</a:t>
            </a:r>
            <a:endParaRPr lang="en-US" sz="6600" kern="1200" dirty="0">
              <a:solidFill>
                <a:srgbClr val="FFFFFF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23" name="sketch line">
            <a:extLst>
              <a:ext uri="{FF2B5EF4-FFF2-40B4-BE49-F238E27FC236}">
                <a16:creationId xmlns:a16="http://schemas.microsoft.com/office/drawing/2014/main" id="{BAF18290-0063-2ECD-B25E-1F64D3724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173498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563791 w 4243589"/>
              <a:gd name="connsiteY1" fmla="*/ 0 h 18288"/>
              <a:gd name="connsiteX2" fmla="*/ 1042710 w 4243589"/>
              <a:gd name="connsiteY2" fmla="*/ 0 h 18288"/>
              <a:gd name="connsiteX3" fmla="*/ 1564066 w 4243589"/>
              <a:gd name="connsiteY3" fmla="*/ 0 h 18288"/>
              <a:gd name="connsiteX4" fmla="*/ 2212729 w 4243589"/>
              <a:gd name="connsiteY4" fmla="*/ 0 h 18288"/>
              <a:gd name="connsiteX5" fmla="*/ 2776520 w 4243589"/>
              <a:gd name="connsiteY5" fmla="*/ 0 h 18288"/>
              <a:gd name="connsiteX6" fmla="*/ 3297875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637362 w 4243589"/>
              <a:gd name="connsiteY9" fmla="*/ 18288 h 18288"/>
              <a:gd name="connsiteX10" fmla="*/ 3116007 w 4243589"/>
              <a:gd name="connsiteY10" fmla="*/ 18288 h 18288"/>
              <a:gd name="connsiteX11" fmla="*/ 2424908 w 4243589"/>
              <a:gd name="connsiteY11" fmla="*/ 18288 h 18288"/>
              <a:gd name="connsiteX12" fmla="*/ 1861117 w 4243589"/>
              <a:gd name="connsiteY12" fmla="*/ 18288 h 18288"/>
              <a:gd name="connsiteX13" fmla="*/ 1382198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1029AD63-28BB-3B85-81C4-8110B16A7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2375A-1760-4B74-8CB6-413D4008556D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84099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00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>
            <a:extLst>
              <a:ext uri="{FF2B5EF4-FFF2-40B4-BE49-F238E27FC236}">
                <a16:creationId xmlns:a16="http://schemas.microsoft.com/office/drawing/2014/main" id="{A0A40CAD-DA47-A6A1-041F-45457F32E72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8000"/>
          </a:blip>
          <a:srcRect/>
          <a:stretch>
            <a:fillRect/>
          </a:stretch>
        </p:blipFill>
        <p:spPr>
          <a:xfrm>
            <a:off x="1" y="13073"/>
            <a:ext cx="12191999" cy="6857990"/>
          </a:xfrm>
          <a:prstGeom prst="rect">
            <a:avLst/>
          </a:prstGeom>
          <a:noFill/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6D560949-2093-130B-3BBA-6BF2D5B52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LES SUPER PUISSANCES CONCURRENTES</a:t>
            </a:r>
            <a:endParaRPr lang="en-GB" dirty="0"/>
          </a:p>
        </p:txBody>
      </p:sp>
      <p:sp>
        <p:nvSpPr>
          <p:cNvPr id="5" name="Étoile : 32 branches 4">
            <a:extLst>
              <a:ext uri="{FF2B5EF4-FFF2-40B4-BE49-F238E27FC236}">
                <a16:creationId xmlns:a16="http://schemas.microsoft.com/office/drawing/2014/main" id="{19FAD3FB-97F8-DBF9-FE5E-96281D690D25}"/>
              </a:ext>
            </a:extLst>
          </p:cNvPr>
          <p:cNvSpPr/>
          <p:nvPr/>
        </p:nvSpPr>
        <p:spPr>
          <a:xfrm>
            <a:off x="495300" y="1466056"/>
            <a:ext cx="3543300" cy="3733800"/>
          </a:xfrm>
          <a:prstGeom prst="star32">
            <a:avLst/>
          </a:prstGeom>
          <a:solidFill>
            <a:srgbClr val="E97132"/>
          </a:solidFill>
          <a:ln>
            <a:solidFill>
              <a:srgbClr val="E971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D906F1E-084A-2A7E-8EAB-97E650F18414}"/>
              </a:ext>
            </a:extLst>
          </p:cNvPr>
          <p:cNvSpPr txBox="1"/>
          <p:nvPr/>
        </p:nvSpPr>
        <p:spPr>
          <a:xfrm>
            <a:off x="1104900" y="2664876"/>
            <a:ext cx="23241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QUALITÉ </a:t>
            </a:r>
          </a:p>
          <a:p>
            <a:pPr algn="ctr"/>
            <a:r>
              <a:rPr lang="fr-FR" sz="40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BIO</a:t>
            </a:r>
            <a:endParaRPr lang="en-GB" sz="4000" dirty="0">
              <a:solidFill>
                <a:schemeClr val="bg1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95AF5C7-9F4A-6D47-FDCA-7240C2B3DF68}"/>
              </a:ext>
            </a:extLst>
          </p:cNvPr>
          <p:cNvSpPr txBox="1"/>
          <p:nvPr/>
        </p:nvSpPr>
        <p:spPr>
          <a:xfrm>
            <a:off x="228600" y="6502400"/>
            <a:ext cx="52451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Crédit Image : PowerPoint</a:t>
            </a:r>
            <a:endParaRPr lang="en-GB" sz="1400" dirty="0">
              <a:solidFill>
                <a:schemeClr val="bg1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EA259555-6FDD-1BA8-9EF0-744953615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2375A-1760-4B74-8CB6-413D4008556D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23456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904025-2865-BBC0-0787-85DC11218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4A2EC19-A971-432E-5226-3BC995874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410368"/>
            <a:ext cx="11455400" cy="1325563"/>
          </a:xfrm>
        </p:spPr>
        <p:txBody>
          <a:bodyPr/>
          <a:lstStyle/>
          <a:p>
            <a:r>
              <a:rPr lang="fr-FR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DEMANDE EXISTANTE, 2 OPTIONS POSSIBLES</a:t>
            </a:r>
            <a:endParaRPr lang="en-GB" dirty="0">
              <a:solidFill>
                <a:schemeClr val="tx1">
                  <a:lumMod val="75000"/>
                  <a:lumOff val="25000"/>
                </a:schemeClr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B67B536D-C6B1-6041-592D-5B3C5D2FB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2375A-1760-4B74-8CB6-413D4008556D}" type="slidenum">
              <a:rPr lang="en-GB" smtClean="0"/>
              <a:t>17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2B64EE-F013-2572-912C-6F5AC3ECE686}"/>
              </a:ext>
            </a:extLst>
          </p:cNvPr>
          <p:cNvSpPr/>
          <p:nvPr/>
        </p:nvSpPr>
        <p:spPr>
          <a:xfrm>
            <a:off x="1562100" y="3022600"/>
            <a:ext cx="4406900" cy="1325563"/>
          </a:xfrm>
          <a:prstGeom prst="rect">
            <a:avLst/>
          </a:prstGeom>
          <a:solidFill>
            <a:srgbClr val="E97132"/>
          </a:solidFill>
          <a:ln>
            <a:solidFill>
              <a:srgbClr val="E971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E18BF137-A823-BACC-A56C-D0B14EF74903}"/>
              </a:ext>
            </a:extLst>
          </p:cNvPr>
          <p:cNvSpPr txBox="1"/>
          <p:nvPr/>
        </p:nvSpPr>
        <p:spPr>
          <a:xfrm>
            <a:off x="2501900" y="3276699"/>
            <a:ext cx="25273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QUALITÉ</a:t>
            </a:r>
            <a:endParaRPr lang="en-GB" sz="4400" dirty="0">
              <a:solidFill>
                <a:schemeClr val="bg1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6E59352-2CED-7BCD-9E5F-C66681123988}"/>
              </a:ext>
            </a:extLst>
          </p:cNvPr>
          <p:cNvSpPr/>
          <p:nvPr/>
        </p:nvSpPr>
        <p:spPr>
          <a:xfrm>
            <a:off x="6616700" y="3022600"/>
            <a:ext cx="4406900" cy="1325563"/>
          </a:xfrm>
          <a:prstGeom prst="rect">
            <a:avLst/>
          </a:prstGeom>
          <a:solidFill>
            <a:srgbClr val="E97132"/>
          </a:solidFill>
          <a:ln>
            <a:solidFill>
              <a:srgbClr val="E971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6BDFEE21-376E-DDC6-B947-A80929FF83AA}"/>
              </a:ext>
            </a:extLst>
          </p:cNvPr>
          <p:cNvSpPr txBox="1"/>
          <p:nvPr/>
        </p:nvSpPr>
        <p:spPr>
          <a:xfrm>
            <a:off x="7327900" y="3300660"/>
            <a:ext cx="29845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QUANTITÉ</a:t>
            </a:r>
            <a:endParaRPr lang="en-GB" sz="4400" dirty="0">
              <a:solidFill>
                <a:schemeClr val="bg1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45036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EA186-63B6-593B-7C74-A507CCED1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11" descr="Une image contenant cercle, Graphique&#10;&#10;Le contenu généré par l’IA peut être incorrect.">
            <a:extLst>
              <a:ext uri="{FF2B5EF4-FFF2-40B4-BE49-F238E27FC236}">
                <a16:creationId xmlns:a16="http://schemas.microsoft.com/office/drawing/2014/main" id="{7E2C4B19-B853-2D6B-DB40-568527293A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490" y="0"/>
            <a:ext cx="10291020" cy="6858000"/>
          </a:xfrm>
          <a:prstGeom prst="rect">
            <a:avLst/>
          </a:prstGeom>
        </p:spPr>
      </p:pic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B784F093-40DC-62BC-AA5A-9518105BA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2375A-1760-4B74-8CB6-413D4008556D}" type="slidenum">
              <a:rPr lang="en-GB" smtClean="0"/>
              <a:t>18</a:t>
            </a:fld>
            <a:endParaRPr lang="en-GB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22DC76A6-D5B3-F53B-B66F-A64B09D84660}"/>
              </a:ext>
            </a:extLst>
          </p:cNvPr>
          <p:cNvSpPr txBox="1"/>
          <p:nvPr/>
        </p:nvSpPr>
        <p:spPr>
          <a:xfrm>
            <a:off x="127000" y="6477000"/>
            <a:ext cx="6781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Crédit Image : Image par </a:t>
            </a:r>
            <a:r>
              <a:rPr lang="fr-FR" sz="1400" u="sng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OpenClipart-Vectors</a:t>
            </a:r>
            <a:r>
              <a:rPr lang="fr-F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 de </a:t>
            </a:r>
            <a:r>
              <a:rPr lang="fr-FR" sz="1400" u="sng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Pixabay</a:t>
            </a:r>
            <a:endParaRPr lang="en-GB" sz="1400" dirty="0">
              <a:solidFill>
                <a:schemeClr val="tx1">
                  <a:lumMod val="75000"/>
                  <a:lumOff val="25000"/>
                </a:schemeClr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90907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5E7EF83-CD46-044A-5253-2F3BFFED5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CONCLUSION</a:t>
            </a:r>
            <a:endParaRPr lang="en-GB" dirty="0">
              <a:solidFill>
                <a:schemeClr val="tx1">
                  <a:lumMod val="75000"/>
                  <a:lumOff val="25000"/>
                </a:schemeClr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825A18E-060A-A388-724B-64314FCB32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>
              <a:solidFill>
                <a:schemeClr val="tx1">
                  <a:lumMod val="75000"/>
                  <a:lumOff val="25000"/>
                </a:schemeClr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r>
              <a:rPr lang="fr-FR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Priorisation sur les groupes des super puissances concurrentes, des pays similaires à la France et cas du Japon.</a:t>
            </a:r>
          </a:p>
          <a:p>
            <a:endParaRPr lang="fr-FR" dirty="0">
              <a:solidFill>
                <a:schemeClr val="tx1">
                  <a:lumMod val="75000"/>
                  <a:lumOff val="25000"/>
                </a:schemeClr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r>
              <a:rPr lang="fr-FR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Possibilité d’aller plus loin en analysant chaque groupe séparément </a:t>
            </a:r>
          </a:p>
          <a:p>
            <a:endParaRPr lang="fr-FR" dirty="0">
              <a:solidFill>
                <a:schemeClr val="tx1">
                  <a:lumMod val="75000"/>
                  <a:lumOff val="25000"/>
                </a:schemeClr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  <a:p>
            <a:r>
              <a:rPr lang="fr-FR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Inclusion de nouvelles données (ex: données tarifs douaniers)</a:t>
            </a:r>
            <a:endParaRPr lang="en-GB" dirty="0">
              <a:solidFill>
                <a:schemeClr val="tx1">
                  <a:lumMod val="75000"/>
                  <a:lumOff val="25000"/>
                </a:schemeClr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E827C97-1964-A2C4-AE6D-2FC62E0B3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2375A-1760-4B74-8CB6-413D4008556D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48082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71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0B81B75-B4A8-51B3-E684-53EDDE668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923925"/>
            <a:ext cx="10934700" cy="5432425"/>
          </a:xfrm>
        </p:spPr>
        <p:txBody>
          <a:bodyPr>
            <a:normAutofit fontScale="90000"/>
          </a:bodyPr>
          <a:lstStyle/>
          <a:p>
            <a:pPr algn="ctr"/>
            <a:br>
              <a:rPr lang="fr-FR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</a:br>
            <a:r>
              <a:rPr lang="fr-FR" sz="96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MERCI</a:t>
            </a:r>
            <a:br>
              <a:rPr lang="fr-FR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</a:br>
            <a:br>
              <a:rPr lang="fr-FR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</a:br>
            <a:br>
              <a:rPr lang="fr-FR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</a:br>
            <a:br>
              <a:rPr lang="fr-FR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</a:br>
            <a:endParaRPr lang="en-GB" dirty="0">
              <a:solidFill>
                <a:schemeClr val="bg1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8BDCA70-38D3-4BD6-5564-B0FE5449A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2375A-1760-4B74-8CB6-413D4008556D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45860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C9F424-FF71-9933-2CD4-9A1C4AC3D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ANNEXE :</a:t>
            </a:r>
            <a:br>
              <a:rPr lang="fr-FR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</a:br>
            <a:r>
              <a:rPr lang="fr-FR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LISTE DES GROUPES DE PAYS</a:t>
            </a:r>
            <a:endParaRPr lang="en-GB" dirty="0">
              <a:solidFill>
                <a:schemeClr val="tx1">
                  <a:lumMod val="75000"/>
                  <a:lumOff val="25000"/>
                </a:schemeClr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3736087-1C66-53E1-45E9-7224FB0F6D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943" y="1825624"/>
            <a:ext cx="11647713" cy="4890861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b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--- Groupe 1 (cluster 0) --- </a:t>
            </a:r>
          </a:p>
          <a:p>
            <a:pPr marL="0" indent="0"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Afghanistan, Albanie, Algérie, Angola,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Arménie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Azerbaïdjan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Bangladesh, Belize,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Bolivie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(État plurinational de),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Bosnie-Herzégovine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Botswana,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Bulgarie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Burkina Faso,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Bélarus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Bénin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Cabo Verde,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Cambodge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Cameroun, Chine - RAS de Macao, Chine, Taiwan Province de, Chypre,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Colombie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Congo, Costa Rica,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Croatie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Cuba, Côte d'Ivoire, Djibouti, Dominique, El Salvador,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Estonie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Eswatini,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Fidji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Gabon, Gambie, Ghana,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Grèce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Guatemala,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Guinée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Guinée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-Bissau, Guyana, Géorgie,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Haïti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Honduras,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Hongrie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Inde,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Indonésie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Iran (République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islamique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d'), Iraq,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Jordanie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Kazakhstan, Kenya,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Kirghizistan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Kiribati, Lesotho,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Lettonie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Liban, Libéria,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Lituanie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Macédoine du Nord, Madagascar, Malawi, Maldives, Mali, Maroc, Maurice,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Mauritanie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Mongolie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Monténégro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Mozambique, Myanmar,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Namibie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Nicaragua, Niger,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Nigéria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Népal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Oman,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Ouganda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Ouzbékistan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Pakistan, Panama, Paraguay, Philippines,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Pérou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Roumanie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Rwanda, République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centrafricaine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République de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Corée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République de Moldova, République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dominicaine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République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démocratique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populaire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lao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République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populaire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démocratique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de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Corée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République-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Unie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de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Tanzanie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Sao Tomé-et-Principe,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Serbie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Sierra Leone,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Slovaquie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Slovénie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Soudan, Sri Lanka, Suriname, Sénégal,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Tadjikistan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Tchad,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Tchéquie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Thaïlande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Timor-Leste, Togo,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Tunisie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Turkménistan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Turquie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Ukraine, Uruguay, Vanuatu, Venezuela (République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bolivarienne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du), Viet Nam,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Yémen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Zambie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Zimbabwe,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Égypte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Équateur, Éthiopie,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Îles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Salomon </a:t>
            </a:r>
          </a:p>
          <a:p>
            <a:pPr marL="0" indent="0">
              <a:buNone/>
            </a:pP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--- Groupe 2 (cluster 1) --- </a:t>
            </a:r>
          </a:p>
          <a:p>
            <a:pPr marL="0" indent="0">
              <a:buNone/>
            </a:pP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Brésil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Chine,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continentale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États-Unis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d'Amérique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</a:p>
          <a:p>
            <a:pPr marL="0" indent="0">
              <a:buNone/>
            </a:pP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--- Groupe 3 (cluster 2) --- </a:t>
            </a:r>
          </a:p>
          <a:p>
            <a:pPr marL="0" indent="0"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Afrique du Sud,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Allemagne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Antigua-et-Barbuda, Arabie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saoudite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Argentine,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Australie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Autriche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Bahamas,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Barbade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Belgique, Canada, Chili, Chine - RAS de Hong-Kong,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Danemark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Espagne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Finlande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France, Fédération de Russie, Grenade,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Irlande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Islande, Israël, Italie,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Jamaïque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Koweït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Luxembourg,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Malaisie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Malte,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Mexique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Norvège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Nouvelle-Calédonie, Nouvelle-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Zélande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Pays-Bas,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Pologne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Polynésie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française, Portugal,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Royaume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-Uni de Grande-Bretagne et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d'Irlande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du Nord, Saint-Kitts-et-Nevis, Saint-Vincent-et-les Grenadines, Sainte-Lucie, Samoa, Suisse,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Suède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Trinité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-et-Tobago,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Émirats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arabes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unis </a:t>
            </a:r>
          </a:p>
          <a:p>
            <a:pPr marL="0" indent="0">
              <a:buNone/>
            </a:pP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--- Groupe 4 (cluster 3) --- </a:t>
            </a:r>
          </a:p>
          <a:p>
            <a:pPr marL="0" indent="0">
              <a:buNone/>
            </a:pP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Japon</a:t>
            </a: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7FA9886-3FE8-8B26-57B8-515741F2E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2375A-1760-4B74-8CB6-413D4008556D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632446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1578</TotalTime>
  <Words>650</Words>
  <Application>Microsoft Office PowerPoint</Application>
  <PresentationFormat>Grand écran</PresentationFormat>
  <Paragraphs>77</Paragraphs>
  <Slides>21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21</vt:i4>
      </vt:variant>
    </vt:vector>
  </HeadingPairs>
  <TitlesOfParts>
    <vt:vector size="26" baseType="lpstr">
      <vt:lpstr>Aptos</vt:lpstr>
      <vt:lpstr>Aptos Display</vt:lpstr>
      <vt:lpstr>Arial</vt:lpstr>
      <vt:lpstr>Segoe UI Semilight</vt:lpstr>
      <vt:lpstr>Thème Office</vt:lpstr>
      <vt:lpstr>ÉTUDE DE MARCHÉ  LA POULE QUI CHANTE</vt:lpstr>
      <vt:lpstr>CONTEXTE</vt:lpstr>
      <vt:lpstr>MÉTHODOLOGIE</vt:lpstr>
      <vt:lpstr>MÉTHODOLOGIE</vt:lpstr>
      <vt:lpstr>UN 1ER EXEMPLE DE GESTION DES VALEURS MANQUANTES</vt:lpstr>
      <vt:lpstr>JOINTURES</vt:lpstr>
      <vt:lpstr>UN 2ND EXEMPLE DE GESTION DES VALEURS MANQUANTES</vt:lpstr>
      <vt:lpstr>DÉMARCHE</vt:lpstr>
      <vt:lpstr>DE 14 À 10 VARIABLES RETENUES  </vt:lpstr>
      <vt:lpstr>COMBIEN DE COMPOSANTES CHOISIR ?</vt:lpstr>
      <vt:lpstr>IDENTIFICATION DES « OUTLIERS »</vt:lpstr>
      <vt:lpstr>4 GROUPES À IDENTIFIER</vt:lpstr>
      <vt:lpstr>UNE AUTRE MÉTHODE</vt:lpstr>
      <vt:lpstr>DES CARACTÉRISTIQUES BIEN DISTINCTES</vt:lpstr>
      <vt:lpstr>RÉSULTATS</vt:lpstr>
      <vt:lpstr>LES SUPER PUISSANCES CONCURRENTES</vt:lpstr>
      <vt:lpstr>DEMANDE EXISTANTE, 2 OPTIONS POSSIBLES</vt:lpstr>
      <vt:lpstr>Présentation PowerPoint</vt:lpstr>
      <vt:lpstr>CONCLUSION</vt:lpstr>
      <vt:lpstr> MERCI    </vt:lpstr>
      <vt:lpstr>ANNEXE : LISTE DES GROUPES DE PAYS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SOPHIE KIM</dc:creator>
  <cp:lastModifiedBy>SOPHIE KIM</cp:lastModifiedBy>
  <cp:revision>31</cp:revision>
  <dcterms:created xsi:type="dcterms:W3CDTF">2025-11-12T17:29:29Z</dcterms:created>
  <dcterms:modified xsi:type="dcterms:W3CDTF">2025-11-19T11:36:00Z</dcterms:modified>
</cp:coreProperties>
</file>